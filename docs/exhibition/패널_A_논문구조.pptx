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41035ff9-6b9b-1f78-9c35-54327370c614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6B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LLM 방향 규칙</c:v>
                  </c:pt>
                  <c:pt idx="2">
                    <c:v>논문 구조 (P0)</c:v>
                  </c:pt>
                  <c:pt idx="3">
                    <c:v>추가 개선 실험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</c:v>
                </c:pt>
                <c:pt idx="2">
                  <c:v>0.06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A: 논문 구조 그대로(P0) 중심. 수치는 EDT 3개 평가 구간 32,926건, 날짜 블록 부트스트랩 95% 신뢰구간. 추가 개선 실험(0.092)은 입력 확장·앙상블 결과. 참고: Ridge 선형 기준선은 0.071.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434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실제 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543800"/>
            <a:ext cx="6828282" cy="45262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818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818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818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686800"/>
            <a:ext cx="609676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① LLM 기반 주 신호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GPT-4o-mini 요약·감성 점수 + 요약문 임베딩(1536차원) → 완전연결층 →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② TCN 기반 보조 벡터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기술적 지표 9종 × 30일 → 인과적 TCN → 시점별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주 신호(Q)로 30개 보조 벡터(K·V)를 softmax 가중 평균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④ 게이트 기반 잔차 결합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 = p + σ(W[p; c]) ⊙ c, 보조 정보 반영 정도를 학습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⑤ 등락률 예측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MLP 512 → 256 → 64 → 1</a:t>
            </a:r>
            <a:endParaRPr lang="en-US" sz="180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14400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82309"/>
            <a:ext cx="3353219" cy="2698206"/>
          </a:xfrm>
          <a:prstGeom prst="roundRect">
            <a:avLst>
              <a:gd name="adj" fmla="val 2711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663474"/>
            <a:ext cx="2011931" cy="1717040"/>
          </a:xfrm>
          <a:prstGeom prst="roundRect">
            <a:avLst>
              <a:gd name="adj" fmla="val 4260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723190"/>
            <a:ext cx="3353219" cy="367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704356"/>
            <a:ext cx="2011931" cy="57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49701"/>
          </a:xfrm>
          <a:prstGeom prst="roundRect">
            <a:avLst>
              <a:gd name="adj" fmla="val 20334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518781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132010"/>
            <a:ext cx="1219352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132010"/>
            <a:ext cx="1073048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540829"/>
            <a:ext cx="0" cy="13899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679827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827002"/>
            <a:ext cx="1341288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827002"/>
            <a:ext cx="1194984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827002"/>
            <a:ext cx="1280320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827002"/>
            <a:ext cx="1134016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23582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440230"/>
            <a:ext cx="1341288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440230"/>
            <a:ext cx="1194984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767286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235821"/>
            <a:ext cx="0" cy="694992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930813"/>
            <a:ext cx="2987413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930813"/>
            <a:ext cx="2841109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317585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317585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644640"/>
            <a:ext cx="0" cy="24529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889931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889931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584924"/>
            <a:ext cx="3353219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584924"/>
            <a:ext cx="3206915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584924"/>
            <a:ext cx="2011931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584924"/>
            <a:ext cx="1865627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8255387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8255387"/>
            <a:ext cx="0" cy="2289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48432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48432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비대칭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93402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9138436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9138436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946549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669901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669901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830215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830215"/>
            <a:ext cx="0" cy="206453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894751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10119602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10324011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10324011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65106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85547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85547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1305177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1468705"/>
            <a:ext cx="2560640" cy="327055"/>
          </a:xfrm>
          <a:prstGeom prst="roundRect">
            <a:avLst>
              <a:gd name="adj" fmla="val 27959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1468705"/>
            <a:ext cx="2414336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</a:t>
            </a:r>
            <a:endParaRPr lang="en-US" sz="1550" dirty="0"/>
          </a:p>
        </p:txBody>
      </p:sp>
      <p:sp>
        <p:nvSpPr>
          <p:cNvPr id="78" name="card-77"/>
          <p:cNvSpPr/>
          <p:nvPr/>
        </p:nvSpPr>
        <p:spPr>
          <a:xfrm>
            <a:off x="7742682" y="12344400"/>
            <a:ext cx="6828282" cy="4206240"/>
          </a:xfrm>
          <a:prstGeom prst="roundRect">
            <a:avLst>
              <a:gd name="adj" fmla="val 391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9" name="badge-78"/>
          <p:cNvSpPr/>
          <p:nvPr/>
        </p:nvSpPr>
        <p:spPr>
          <a:xfrm>
            <a:off x="8062722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062722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81" name="text-80"/>
          <p:cNvSpPr txBox="1"/>
          <p:nvPr/>
        </p:nvSpPr>
        <p:spPr>
          <a:xfrm>
            <a:off x="8839962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82" name="code-bg-81"/>
          <p:cNvSpPr/>
          <p:nvPr/>
        </p:nvSpPr>
        <p:spPr>
          <a:xfrm>
            <a:off x="8108442" y="13487400"/>
            <a:ext cx="6096762" cy="1965960"/>
          </a:xfrm>
          <a:prstGeom prst="roundRect">
            <a:avLst>
              <a:gd name="adj" fmla="val 3721"/>
            </a:avLst>
          </a:prstGeom>
          <a:solidFill>
            <a:srgbClr val="1E2533"/>
          </a:solidFill>
          <a:ln w="12700">
            <a:solidFill>
              <a:srgbClr val="1E2533"/>
            </a:solidFill>
            <a:prstDash val="solid"/>
          </a:ln>
        </p:spPr>
      </p:sp>
      <p:sp>
        <p:nvSpPr>
          <p:cNvPr id="83" name="text-82"/>
          <p:cNvSpPr txBox="1"/>
          <p:nvPr/>
        </p:nvSpPr>
        <p:spPr>
          <a:xfrm>
            <a:off x="8309610" y="13597128"/>
            <a:ext cx="573100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module 3: asymmetric cross-attention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self.query_proj(news)           # (B, 512)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self.key_proj(market)           # (B, 30, 512)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self.value_proj(market)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softmax(einsum('bd,btd-&gt;bt', q, k) * scale)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= einsum('bt,btd-&gt;bd', w, v)      # (B, 512)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module 4: gated residual fusion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sigmoid(self.gate_net(cat([news, c], -1)))</a:t>
            </a:r>
            <a:endParaRPr lang="en-US" sz="1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news + g * c                    # (B, 512)</a:t>
            </a:r>
            <a:endParaRPr lang="en-US" sz="1300" dirty="0"/>
          </a:p>
        </p:txBody>
      </p:sp>
      <p:sp>
        <p:nvSpPr>
          <p:cNvPr id="84" name="text-83"/>
          <p:cNvSpPr txBox="1"/>
          <p:nvPr/>
        </p:nvSpPr>
        <p:spPr>
          <a:xfrm>
            <a:off x="8108442" y="1559052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GitHub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github.com/kimsangmin1234/jolup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논문 모듈 1~5 (news_encoder, tcn_encoder, cross_attention, gated_fusion, return_predictor)</a:t>
            </a:r>
            <a:endParaRPr lang="en-US" sz="1500" dirty="0"/>
          </a:p>
        </p:txBody>
      </p:sp>
      <p:sp>
        <p:nvSpPr>
          <p:cNvPr id="85" name="card-84"/>
          <p:cNvSpPr/>
          <p:nvPr/>
        </p:nvSpPr>
        <p:spPr>
          <a:xfrm>
            <a:off x="7742682" y="16824960"/>
            <a:ext cx="6828282" cy="4101998"/>
          </a:xfrm>
          <a:prstGeom prst="roundRect">
            <a:avLst>
              <a:gd name="adj" fmla="val 401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6" name="badge-85"/>
          <p:cNvSpPr/>
          <p:nvPr/>
        </p:nvSpPr>
        <p:spPr>
          <a:xfrm>
            <a:off x="8062722" y="1709928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7" name="text-86"/>
          <p:cNvSpPr txBox="1"/>
          <p:nvPr/>
        </p:nvSpPr>
        <p:spPr>
          <a:xfrm>
            <a:off x="8062722" y="170992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88" name="text-87"/>
          <p:cNvSpPr txBox="1"/>
          <p:nvPr/>
        </p:nvSpPr>
        <p:spPr>
          <a:xfrm>
            <a:off x="8839962" y="1709928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89" name="text-88"/>
          <p:cNvSpPr txBox="1"/>
          <p:nvPr/>
        </p:nvSpPr>
        <p:spPr>
          <a:xfrm>
            <a:off x="8108442" y="17967960"/>
            <a:ext cx="6096762" cy="2684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감성 점수만으로는 예측력이 없지만(−0.006), 제안 구조는 유의한 예측력(0.060)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최근 구간 약화(0.033), 거래비용 반영 시 수익 소멸, 어텐션은 30일에 고르게 분포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향후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입력 확장·앙상블로 0.092까지 개선 확인 → 비용을 고려한 전략 검증</a:t>
            </a:r>
            <a:endParaRPr lang="en-US" sz="1900" dirty="0"/>
          </a:p>
        </p:txBody>
      </p:sp>
      <p:sp>
        <p:nvSpPr>
          <p:cNvPr id="90" name="card-89"/>
          <p:cNvSpPr/>
          <p:nvPr/>
        </p:nvSpPr>
        <p:spPr>
          <a:xfrm>
            <a:off x="548640" y="12344400"/>
            <a:ext cx="6828282" cy="858255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1" name="badge-90"/>
          <p:cNvSpPr/>
          <p:nvPr/>
        </p:nvSpPr>
        <p:spPr>
          <a:xfrm>
            <a:off x="868680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text-91"/>
          <p:cNvSpPr txBox="1"/>
          <p:nvPr/>
        </p:nvSpPr>
        <p:spPr>
          <a:xfrm>
            <a:off x="868680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93" name="text-92"/>
          <p:cNvSpPr txBox="1"/>
          <p:nvPr/>
        </p:nvSpPr>
        <p:spPr>
          <a:xfrm>
            <a:off x="1645920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94" name="text-93"/>
          <p:cNvSpPr txBox="1"/>
          <p:nvPr/>
        </p:nvSpPr>
        <p:spPr>
          <a:xfrm>
            <a:off x="914400" y="1348740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95" name="stat-94"/>
          <p:cNvSpPr/>
          <p:nvPr/>
        </p:nvSpPr>
        <p:spPr>
          <a:xfrm>
            <a:off x="914400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6" name="text-95"/>
          <p:cNvSpPr txBox="1"/>
          <p:nvPr/>
        </p:nvSpPr>
        <p:spPr>
          <a:xfrm>
            <a:off x="914400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0.060</a:t>
            </a:r>
            <a:endParaRPr lang="en-US" sz="3400" dirty="0"/>
          </a:p>
        </p:txBody>
      </p:sp>
      <p:sp>
        <p:nvSpPr>
          <p:cNvPr id="97" name="text-96"/>
          <p:cNvSpPr txBox="1"/>
          <p:nvPr/>
        </p:nvSpPr>
        <p:spPr>
          <a:xfrm>
            <a:off x="987552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0.046~0.073</a:t>
            </a:r>
            <a:endParaRPr lang="en-US" sz="1350" dirty="0"/>
          </a:p>
        </p:txBody>
      </p:sp>
      <p:sp>
        <p:nvSpPr>
          <p:cNvPr id="98" name="stat-97"/>
          <p:cNvSpPr/>
          <p:nvPr/>
        </p:nvSpPr>
        <p:spPr>
          <a:xfrm>
            <a:off x="3007614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9" name="text-98"/>
          <p:cNvSpPr txBox="1"/>
          <p:nvPr/>
        </p:nvSpPr>
        <p:spPr>
          <a:xfrm>
            <a:off x="3007614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/ 3</a:t>
            </a:r>
            <a:endParaRPr lang="en-US" sz="3400" dirty="0"/>
          </a:p>
        </p:txBody>
      </p:sp>
      <p:sp>
        <p:nvSpPr>
          <p:cNvPr id="100" name="text-99"/>
          <p:cNvSpPr txBox="1"/>
          <p:nvPr/>
        </p:nvSpPr>
        <p:spPr>
          <a:xfrm>
            <a:off x="3080766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구간 모두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양(+)의 예측력</a:t>
            </a:r>
            <a:endParaRPr lang="en-US" sz="1350" dirty="0"/>
          </a:p>
        </p:txBody>
      </p:sp>
      <p:sp>
        <p:nvSpPr>
          <p:cNvPr id="101" name="stat-100"/>
          <p:cNvSpPr/>
          <p:nvPr/>
        </p:nvSpPr>
        <p:spPr>
          <a:xfrm>
            <a:off x="5100828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2" name="text-101"/>
          <p:cNvSpPr txBox="1"/>
          <p:nvPr/>
        </p:nvSpPr>
        <p:spPr>
          <a:xfrm>
            <a:off x="5100828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−0.006</a:t>
            </a:r>
            <a:endParaRPr lang="en-US" sz="3400" dirty="0"/>
          </a:p>
        </p:txBody>
      </p:sp>
      <p:sp>
        <p:nvSpPr>
          <p:cNvPr id="103" name="text-102"/>
          <p:cNvSpPr txBox="1"/>
          <p:nvPr/>
        </p:nvSpPr>
        <p:spPr>
          <a:xfrm>
            <a:off x="5173980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감성 점수만 사용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(예측력 없음)</a:t>
            </a:r>
            <a:endParaRPr lang="en-US" sz="1350" dirty="0"/>
          </a:p>
        </p:txBody>
      </p:sp>
      <p:graphicFrame>
        <p:nvGraphicFramePr>
          <p:cNvPr id="104" name="chart-ic" descr=""/>
          <p:cNvGraphicFramePr/>
          <p:nvPr/>
        </p:nvGraphicFramePr>
        <p:xfrm>
          <a:off x="914400" y="16139160"/>
          <a:ext cx="6096762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5" name="chart-window" descr=""/>
          <p:cNvGraphicFramePr/>
          <p:nvPr/>
        </p:nvGraphicFramePr>
        <p:xfrm>
          <a:off x="914400" y="18653760"/>
          <a:ext cx="6096762" cy="204459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2026-10-13T11:29:50Z</dcterms:created>
  <dcterms:modified xsi:type="dcterms:W3CDTF">2026-10-13T11:29:50Z</dcterms:modified>
</cp:coreProperties>
</file>