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5119604" cy="21384158"/>
  <p:notesSz cx="21384158" cy="15119604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패널" id="{65afbba4-acb6-5467-9a9e-e70df83f27aa}">
          <p14:sldIdLst>
            <p14:sldId id="256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700" b="0" i="0" u="none" strike="noStrike">
                <a:solidFill>
                  <a:srgbClr val="14233F"/>
                </a:solidFill>
                <a:latin typeface="+mn-lt"/>
              </a:defRPr>
            </a:pPr>
            <a:r>
              <a:rPr sz="1700" b="0" i="0" u="none" strike="noStrike">
                <a:solidFill>
                  <a:srgbClr val="14233F"/>
                </a:solidFill>
                <a:latin typeface="+mn-lt"/>
              </a:rPr>
              <a:t>모델별 순위 IC (3개 구간 합산)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순위 IC</c:v>
                </c:pt>
              </c:strCache>
            </c:strRef>
          </c:tx>
          <c:spPr>
            <a:solidFill>
              <a:srgbClr val="6B7686"/>
            </a:solidFill>
            <a:effectLst/>
          </c:spPr>
          <c:invertIfNegative val="0"/>
          <c:dLbls>
            <c:numFmt formatCode="0.000" sourceLinked="0"/>
            <c:txPr>
              <a:bodyPr/>
              <a:lstStyle/>
              <a:p>
                <a:pPr>
                  <a:defRPr b="0" i="0" strike="noStrike" sz="1500" u="none">
                    <a:solidFill>
                      <a:srgbClr val="000000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6B7686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6B7686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E3A12F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9AA6B5"/>
              </a:solidFill>
              <a:effectLst/>
            </c:spPr>
          </c:dPt>
          <c:cat>
            <c:multiLvlStrRef>
              <c:f>Sheet1!$A$2:$A$5</c:f>
              <c:multiLvlStrCache>
                <c:ptCount val="4"/>
                <c:lvl>
                  <c:pt idx="0">
                    <c:v>감성 점수만</c:v>
                  </c:pt>
                  <c:pt idx="1">
                    <c:v>LLM 방향 규칙</c:v>
                  </c:pt>
                  <c:pt idx="2">
                    <c:v>논문 구조 (P0)</c:v>
                  </c:pt>
                  <c:pt idx="3">
                    <c:v>추가 개선 실험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-0.006</c:v>
                </c:pt>
                <c:pt idx="1">
                  <c:v>0</c:v>
                </c:pt>
                <c:pt idx="2">
                  <c:v>0.06</c:v>
                </c:pt>
                <c:pt idx="3">
                  <c:v>0.092</c:v>
                </c:pt>
              </c:numCache>
            </c:numRef>
          </c:val>
        </c:ser>
        <c:dLbls>
          <c:numFmt formatCode="0.000" sourceLinked="0"/>
          <c:txPr>
            <a:bodyPr/>
            <a:lstStyle/>
            <a:p>
              <a:pPr>
                <a:defRPr b="0" i="0" strike="noStrike" sz="1500" u="none">
                  <a:solidFill>
                    <a:srgbClr val="000000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500" b="0" i="0" u="none" strike="noStrike">
                <a:solidFill>
                  <a:srgbClr val="1F2633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1"/>
          <c:min val="-0.04"/>
        </c:scaling>
        <c:delete val="0"/>
        <c:axPos val="b"/>
        <c:majorGridlines>
          <c:spPr>
            <a:ln w="9525" cap="flat">
              <a:solidFill>
                <a:srgbClr val="D9DEE6"/>
              </a:solidFill>
              <a:prstDash val="solid"/>
              <a:round/>
            </a:ln>
          </c:spPr>
        </c:majorGridlines>
        <c:numFmt formatCode="0.00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B7686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0.02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700" b="0" i="0" u="none" strike="noStrike">
                <a:solidFill>
                  <a:srgbClr val="14233F"/>
                </a:solidFill>
                <a:latin typeface="+mn-lt"/>
              </a:defRPr>
            </a:pPr>
            <a:r>
              <a:rPr sz="1700" b="0" i="0" u="none" strike="noStrike">
                <a:solidFill>
                  <a:srgbClr val="14233F"/>
                </a:solidFill>
                <a:latin typeface="+mn-lt"/>
              </a:rPr>
              <a:t>평가 구간별 순위 IC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논문 구조 (P0)</c:v>
                </c:pt>
              </c:strCache>
            </c:strRef>
          </c:tx>
          <c:spPr>
            <a:solidFill>
              <a:srgbClr val="E3A12F"/>
            </a:solidFill>
            <a:effectLst/>
          </c:spPr>
          <c:invertIfNegative val="0"/>
          <c:dLbls>
            <c:numFmt formatCode="0.000" sourceLinked="0"/>
            <c:txPr>
              <a:bodyPr/>
              <a:lstStyle/>
              <a:p>
                <a:pPr>
                  <a:defRPr b="0" i="0" strike="noStrike" sz="1500" u="none">
                    <a:solidFill>
                      <a:srgbClr val="000000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20.11~12</c:v>
                  </c:pt>
                  <c:pt idx="1">
                    <c:v>21.01~02</c:v>
                  </c:pt>
                  <c:pt idx="2">
                    <c:v>21.03~05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0.079</c:v>
                </c:pt>
                <c:pt idx="1">
                  <c:v>0.067</c:v>
                </c:pt>
                <c:pt idx="2">
                  <c:v>0.033</c:v>
                </c:pt>
              </c:numCache>
            </c:numRef>
          </c:val>
        </c:ser>
        <c:dLbls>
          <c:numFmt formatCode="0.000" sourceLinked="0"/>
          <c:txPr>
            <a:bodyPr/>
            <a:lstStyle/>
            <a:p>
              <a:pPr>
                <a:defRPr b="0" i="0" strike="noStrike" sz="1500" u="none">
                  <a:solidFill>
                    <a:srgbClr val="000000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500" b="0" i="0" u="none" strike="noStrike">
                <a:solidFill>
                  <a:srgbClr val="1F2633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12"/>
          <c:min val="0"/>
        </c:scaling>
        <c:delete val="0"/>
        <c:axPos val="l"/>
        <c:majorGridlines>
          <c:spPr>
            <a:ln w="9525" cap="flat">
              <a:solidFill>
                <a:srgbClr val="D9DEE6"/>
              </a:solidFill>
              <a:prstDash val="solid"/>
              <a:round/>
            </a:ln>
          </c:spPr>
        </c:majorGridlines>
        <c:numFmt formatCode="0.00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B7686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0.03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버전 A: 논문 구조 그대로(P0) 중심. 수치는 EDT 3개 평가 구간 32,926건, 날짜 블록 부트스트랩 95% 신뢰구간. 추가 개선 실험(0.092)은 입력 확장·앙상블 결과. 참고: Ridge 선형 기준선은 0.071.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EL">
    <p:bg>
      <p:bgPr>
        <a:solidFill>
          <a:schemeClr val="accen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1.xml"/><Relationship Id="rId3" Type="http://schemas.openxmlformats.org/officeDocument/2006/relationships/chart" Target="/ppt/charts/chart2.xml"/><Relationship Id="rId1" Type="http://schemas.openxmlformats.org/officeDocument/2006/relationships/image" Target="../media/image-1-1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-1"/>
          <p:cNvSpPr txBox="1"/>
          <p:nvPr/>
        </p:nvSpPr>
        <p:spPr>
          <a:xfrm>
            <a:off x="548640" y="502920"/>
            <a:ext cx="1402232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400" b="1" dirty="0">
                <a:solidFill>
                  <a:schemeClr val="bg1"/>
                </a:solidFill>
              </a:rPr>
              <a:t>뉴스 이벤트 기반 주식 가격 예측 모델</a:t>
            </a:r>
            <a:endParaRPr lang="en-US" sz="6400" dirty="0"/>
          </a:p>
        </p:txBody>
      </p:sp>
      <p:sp>
        <p:nvSpPr>
          <p:cNvPr id="3" name="text-2"/>
          <p:cNvSpPr txBox="1"/>
          <p:nvPr/>
        </p:nvSpPr>
        <p:spPr>
          <a:xfrm>
            <a:off x="548640" y="1572768"/>
            <a:ext cx="140223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C9D3E3"/>
                </a:solidFill>
              </a:rPr>
              <a:t>Stock Price Prediction Model Based on News Events</a:t>
            </a:r>
            <a:endParaRPr lang="en-US" sz="2600" dirty="0"/>
          </a:p>
        </p:txBody>
      </p:sp>
      <p:sp>
        <p:nvSpPr>
          <p:cNvPr id="4" name="text-3"/>
          <p:cNvSpPr txBox="1"/>
          <p:nvPr/>
        </p:nvSpPr>
        <p:spPr>
          <a:xfrm>
            <a:off x="548640" y="2130552"/>
            <a:ext cx="140223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00" dirty="0">
                <a:solidFill>
                  <a:schemeClr val="bg1"/>
                </a:solidFill>
              </a:rPr>
              <a:t>충북대학교 정보통신공학부</a:t>
            </a:r>
            <a:pPr algn="ctr" indent="0" marL="0">
              <a:buNone/>
            </a:pPr>
            <a:r>
              <a:rPr lang="en-US" sz="2500" b="1" dirty="0">
                <a:solidFill>
                  <a:schemeClr val="accent2"/>
                </a:solidFill>
              </a:rPr>
              <a:t>     지도교수  </a:t>
            </a:r>
            <a:pPr algn="ctr" indent="0" marL="0">
              <a:buNone/>
            </a:pPr>
            <a:r>
              <a:rPr lang="en-US" sz="2500" dirty="0">
                <a:solidFill>
                  <a:schemeClr val="bg1"/>
                </a:solidFill>
              </a:rPr>
              <a:t>유재수 교수님</a:t>
            </a:r>
            <a:pPr algn="ctr" indent="0" marL="0">
              <a:buNone/>
            </a:pPr>
            <a:r>
              <a:rPr lang="en-US" sz="2500" b="1" dirty="0">
                <a:solidFill>
                  <a:schemeClr val="accent2"/>
                </a:solidFill>
              </a:rPr>
              <a:t>     참여학생  </a:t>
            </a:r>
            <a:pPr algn="ctr" indent="0" marL="0">
              <a:buNone/>
            </a:pPr>
            <a:r>
              <a:rPr lang="en-US" sz="2500" dirty="0">
                <a:solidFill>
                  <a:schemeClr val="bg1"/>
                </a:solidFill>
              </a:rPr>
              <a:t>김상민 · 성우제</a:t>
            </a:r>
            <a:endParaRPr lang="en-US" sz="2500" dirty="0"/>
          </a:p>
        </p:txBody>
      </p:sp>
      <p:sp>
        <p:nvSpPr>
          <p:cNvPr id="5" name="card-4"/>
          <p:cNvSpPr/>
          <p:nvPr/>
        </p:nvSpPr>
        <p:spPr>
          <a:xfrm>
            <a:off x="548640" y="2926080"/>
            <a:ext cx="6828282" cy="4343400"/>
          </a:xfrm>
          <a:prstGeom prst="roundRect">
            <a:avLst>
              <a:gd name="adj" fmla="val 3789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6" name="badge-5"/>
          <p:cNvSpPr/>
          <p:nvPr/>
        </p:nvSpPr>
        <p:spPr>
          <a:xfrm>
            <a:off x="868680" y="3200400"/>
            <a:ext cx="621792" cy="621792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7" name="text-6"/>
          <p:cNvSpPr txBox="1"/>
          <p:nvPr/>
        </p:nvSpPr>
        <p:spPr>
          <a:xfrm>
            <a:off x="868680" y="3200400"/>
            <a:ext cx="62179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chemeClr val="accent1"/>
                </a:solidFill>
              </a:rPr>
              <a:t>1</a:t>
            </a:r>
            <a:endParaRPr lang="en-US" sz="2600" dirty="0"/>
          </a:p>
        </p:txBody>
      </p:sp>
      <p:sp>
        <p:nvSpPr>
          <p:cNvPr id="8" name="text-7"/>
          <p:cNvSpPr txBox="1"/>
          <p:nvPr/>
        </p:nvSpPr>
        <p:spPr>
          <a:xfrm>
            <a:off x="1645920" y="3200400"/>
            <a:ext cx="545668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accent1"/>
                </a:solidFill>
              </a:rPr>
              <a:t>연구 내용</a:t>
            </a:r>
            <a:endParaRPr lang="en-US" sz="3200" dirty="0"/>
          </a:p>
        </p:txBody>
      </p:sp>
      <p:sp>
        <p:nvSpPr>
          <p:cNvPr id="9" name="text-8"/>
          <p:cNvSpPr txBox="1"/>
          <p:nvPr/>
        </p:nvSpPr>
        <p:spPr>
          <a:xfrm>
            <a:off x="914400" y="4069080"/>
            <a:ext cx="6096762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lnSpc>
                <a:spcPct val="105000"/>
              </a:lnSpc>
              <a:buSzPct val="100000"/>
              <a:buChar char="•"/>
            </a:pPr>
            <a:r>
              <a:rPr lang="en-US" sz="1900" b="1" dirty="0">
                <a:solidFill>
                  <a:schemeClr val="accent1"/>
                </a:solidFill>
              </a:rPr>
              <a:t>필요성  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900" dirty="0">
                <a:solidFill>
                  <a:schemeClr val="tx1"/>
                </a:solidFill>
              </a:rPr>
              <a:t>단기 주가는 기술적 지표만으로 설명하기 어려운 뉴스 이벤트에 크게 반응</a:t>
            </a:r>
            <a:endParaRPr lang="en-US" sz="1900" dirty="0"/>
          </a:p>
          <a:p>
            <a:pPr marL="228600" indent="-228600">
              <a:lnSpc>
                <a:spcPct val="105000"/>
              </a:lnSpc>
              <a:buSzPct val="100000"/>
              <a:buChar char="•"/>
            </a:pPr>
            <a:r>
              <a:rPr lang="en-US" sz="1900" b="1" dirty="0">
                <a:solidFill>
                  <a:schemeClr val="accent1"/>
                </a:solidFill>
              </a:rPr>
              <a:t>기존 연구  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900" dirty="0">
                <a:solidFill>
                  <a:schemeClr val="tx1"/>
                </a:solidFill>
              </a:rPr>
              <a:t>LLM 감성 점수 또는 텍스트 임베딩 중 하나만 사용</a:t>
            </a:r>
            <a:endParaRPr lang="en-US" sz="1900" dirty="0"/>
          </a:p>
          <a:p>
            <a:pPr marL="228600" indent="-228600">
              <a:lnSpc>
                <a:spcPct val="105000"/>
              </a:lnSpc>
              <a:buSzPct val="100000"/>
              <a:buChar char="•"/>
            </a:pPr>
            <a:r>
              <a:rPr lang="en-US" sz="1900" b="1" dirty="0">
                <a:solidFill>
                  <a:schemeClr val="accent1"/>
                </a:solidFill>
              </a:rPr>
              <a:t>연구 내용  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900" dirty="0">
                <a:solidFill>
                  <a:schemeClr val="tx1"/>
                </a:solidFill>
              </a:rPr>
              <a:t>뉴스의 의미·감성(주 신호)과 과거 30일 시장 상태(보조 신호)를 결합해 뉴스 발표 후 1일 초과수익률 예측</a:t>
            </a:r>
            <a:endParaRPr lang="en-US" sz="1900" dirty="0"/>
          </a:p>
          <a:p>
            <a:pPr marL="228600" indent="-228600">
              <a:lnSpc>
                <a:spcPct val="105000"/>
              </a:lnSpc>
              <a:buSzPct val="100000"/>
              <a:buChar char="•"/>
            </a:pPr>
            <a:r>
              <a:rPr lang="en-US" sz="1900" b="1" dirty="0">
                <a:solidFill>
                  <a:schemeClr val="accent1"/>
                </a:solidFill>
              </a:rPr>
              <a:t>검증  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900" dirty="0">
                <a:solidFill>
                  <a:schemeClr val="tx1"/>
                </a:solidFill>
              </a:rPr>
              <a:t>실제 기업 보도자료 6.3만 건, 미래 정보 누수 없는 표본 외 평가</a:t>
            </a:r>
            <a:endParaRPr lang="en-US" sz="1900" dirty="0"/>
          </a:p>
        </p:txBody>
      </p:sp>
      <p:sp>
        <p:nvSpPr>
          <p:cNvPr id="10" name="card-9"/>
          <p:cNvSpPr/>
          <p:nvPr/>
        </p:nvSpPr>
        <p:spPr>
          <a:xfrm>
            <a:off x="548640" y="7543800"/>
            <a:ext cx="6828282" cy="4526280"/>
          </a:xfrm>
          <a:prstGeom prst="roundRect">
            <a:avLst>
              <a:gd name="adj" fmla="val 3636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11" name="badge-10"/>
          <p:cNvSpPr/>
          <p:nvPr/>
        </p:nvSpPr>
        <p:spPr>
          <a:xfrm>
            <a:off x="868680" y="7818120"/>
            <a:ext cx="621792" cy="621792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2" name="text-11"/>
          <p:cNvSpPr txBox="1"/>
          <p:nvPr/>
        </p:nvSpPr>
        <p:spPr>
          <a:xfrm>
            <a:off x="868680" y="7818120"/>
            <a:ext cx="62179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chemeClr val="accent1"/>
                </a:solidFill>
              </a:rPr>
              <a:t>2</a:t>
            </a:r>
            <a:endParaRPr lang="en-US" sz="2600" dirty="0"/>
          </a:p>
        </p:txBody>
      </p:sp>
      <p:sp>
        <p:nvSpPr>
          <p:cNvPr id="13" name="text-12"/>
          <p:cNvSpPr txBox="1"/>
          <p:nvPr/>
        </p:nvSpPr>
        <p:spPr>
          <a:xfrm>
            <a:off x="1645920" y="7818120"/>
            <a:ext cx="545668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accent1"/>
                </a:solidFill>
              </a:rPr>
              <a:t>원리</a:t>
            </a:r>
            <a:endParaRPr lang="en-US" sz="3200" dirty="0"/>
          </a:p>
        </p:txBody>
      </p:sp>
      <p:sp>
        <p:nvSpPr>
          <p:cNvPr id="14" name="text-13"/>
          <p:cNvSpPr txBox="1"/>
          <p:nvPr/>
        </p:nvSpPr>
        <p:spPr>
          <a:xfrm>
            <a:off x="914400" y="8686800"/>
            <a:ext cx="6096762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lnSpc>
                <a:spcPct val="105000"/>
              </a:lnSpc>
              <a:buSzPct val="100000"/>
              <a:buChar char="•"/>
            </a:pPr>
            <a:r>
              <a:rPr lang="en-US" sz="1800" b="1" dirty="0">
                <a:solidFill>
                  <a:schemeClr val="accent1"/>
                </a:solidFill>
              </a:rPr>
              <a:t>① LLM 기반 주 신호  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GPT-4o-mini 요약·감성 점수 + 요약문 임베딩(1536차원) → 완전연결층 → 512차원</a:t>
            </a:r>
            <a:endParaRPr lang="en-US" sz="1800" dirty="0"/>
          </a:p>
          <a:p>
            <a:pPr marL="228600" indent="-228600">
              <a:lnSpc>
                <a:spcPct val="105000"/>
              </a:lnSpc>
              <a:buSzPct val="100000"/>
              <a:buChar char="•"/>
            </a:pPr>
            <a:r>
              <a:rPr lang="en-US" sz="1800" b="1" dirty="0">
                <a:solidFill>
                  <a:schemeClr val="accent1"/>
                </a:solidFill>
              </a:rPr>
              <a:t>② TCN 기반 보조 벡터  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기술적 지표 9종 × 30일 → 인과적 TCN → 시점별 512차원</a:t>
            </a:r>
            <a:endParaRPr lang="en-US" sz="1800" dirty="0"/>
          </a:p>
          <a:p>
            <a:pPr marL="228600" indent="-228600">
              <a:lnSpc>
                <a:spcPct val="105000"/>
              </a:lnSpc>
              <a:buSzPct val="100000"/>
              <a:buChar char="•"/>
            </a:pPr>
            <a:r>
              <a:rPr lang="en-US" sz="1800" b="1" dirty="0">
                <a:solidFill>
                  <a:schemeClr val="accent1"/>
                </a:solidFill>
              </a:rPr>
              <a:t>③ 비대칭 교차 어텐션  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주 신호(Q)로 30개 보조 벡터(K·V)를 softmax 가중 평균</a:t>
            </a:r>
            <a:endParaRPr lang="en-US" sz="1800" dirty="0"/>
          </a:p>
          <a:p>
            <a:pPr marL="228600" indent="-228600">
              <a:lnSpc>
                <a:spcPct val="105000"/>
              </a:lnSpc>
              <a:buSzPct val="100000"/>
              <a:buChar char="•"/>
            </a:pPr>
            <a:r>
              <a:rPr lang="en-US" sz="1800" b="1" dirty="0">
                <a:solidFill>
                  <a:schemeClr val="accent1"/>
                </a:solidFill>
              </a:rPr>
              <a:t>④ 게이트 기반 잔차 결합  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h = p + σ(W[p; c]) ⊙ c, 보조 정보 반영 정도를 학습</a:t>
            </a:r>
            <a:endParaRPr lang="en-US" sz="1800" dirty="0"/>
          </a:p>
          <a:p>
            <a:pPr marL="228600" indent="-228600">
              <a:lnSpc>
                <a:spcPct val="105000"/>
              </a:lnSpc>
              <a:buSzPct val="100000"/>
              <a:buChar char="•"/>
            </a:pPr>
            <a:r>
              <a:rPr lang="en-US" sz="1800" b="1" dirty="0">
                <a:solidFill>
                  <a:schemeClr val="accent1"/>
                </a:solidFill>
              </a:rPr>
              <a:t>⑤ 등락률 예측  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MLP 512 → 256 → 64 → 1</a:t>
            </a:r>
            <a:endParaRPr lang="en-US" sz="1800" dirty="0"/>
          </a:p>
        </p:txBody>
      </p:sp>
      <p:sp>
        <p:nvSpPr>
          <p:cNvPr id="15" name="card-14"/>
          <p:cNvSpPr/>
          <p:nvPr/>
        </p:nvSpPr>
        <p:spPr>
          <a:xfrm>
            <a:off x="7742682" y="2926080"/>
            <a:ext cx="6828282" cy="9144000"/>
          </a:xfrm>
          <a:prstGeom prst="roundRect">
            <a:avLst>
              <a:gd name="adj" fmla="val 2410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16" name="badge-15"/>
          <p:cNvSpPr/>
          <p:nvPr/>
        </p:nvSpPr>
        <p:spPr>
          <a:xfrm>
            <a:off x="8062722" y="3200400"/>
            <a:ext cx="621792" cy="621792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7" name="text-16"/>
          <p:cNvSpPr txBox="1"/>
          <p:nvPr/>
        </p:nvSpPr>
        <p:spPr>
          <a:xfrm>
            <a:off x="8062722" y="3200400"/>
            <a:ext cx="62179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chemeClr val="accent1"/>
                </a:solidFill>
              </a:rPr>
              <a:t>3</a:t>
            </a:r>
            <a:endParaRPr lang="en-US" sz="2600" dirty="0"/>
          </a:p>
        </p:txBody>
      </p:sp>
      <p:sp>
        <p:nvSpPr>
          <p:cNvPr id="18" name="text-17"/>
          <p:cNvSpPr txBox="1"/>
          <p:nvPr/>
        </p:nvSpPr>
        <p:spPr>
          <a:xfrm>
            <a:off x="8839962" y="3200400"/>
            <a:ext cx="545668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accent1"/>
                </a:solidFill>
              </a:rPr>
              <a:t>구조</a:t>
            </a:r>
            <a:endParaRPr lang="en-US" sz="3200" dirty="0"/>
          </a:p>
        </p:txBody>
      </p:sp>
      <p:sp>
        <p:nvSpPr>
          <p:cNvPr id="19" name="group-18"/>
          <p:cNvSpPr/>
          <p:nvPr/>
        </p:nvSpPr>
        <p:spPr>
          <a:xfrm>
            <a:off x="8291345" y="4682309"/>
            <a:ext cx="3353219" cy="2698206"/>
          </a:xfrm>
          <a:prstGeom prst="roundRect">
            <a:avLst>
              <a:gd name="adj" fmla="val 2711"/>
            </a:avLst>
          </a:prstGeom>
          <a:solidFill>
            <a:srgbClr val="EAF1FA"/>
          </a:solidFill>
          <a:ln w="19050">
            <a:solidFill>
              <a:srgbClr val="14233F"/>
            </a:solidFill>
            <a:prstDash val="solid"/>
          </a:ln>
        </p:spPr>
      </p:sp>
      <p:sp>
        <p:nvSpPr>
          <p:cNvPr id="20" name="group-19"/>
          <p:cNvSpPr/>
          <p:nvPr/>
        </p:nvSpPr>
        <p:spPr>
          <a:xfrm>
            <a:off x="12010370" y="5663474"/>
            <a:ext cx="2011931" cy="1717040"/>
          </a:xfrm>
          <a:prstGeom prst="roundRect">
            <a:avLst>
              <a:gd name="adj" fmla="val 4260"/>
            </a:avLst>
          </a:prstGeom>
          <a:solidFill>
            <a:srgbClr val="E8F3EA"/>
          </a:solidFill>
          <a:ln w="19050">
            <a:solidFill>
              <a:srgbClr val="2E8B57"/>
            </a:solidFill>
            <a:prstDash val="solid"/>
          </a:ln>
        </p:spPr>
      </p:sp>
      <p:sp>
        <p:nvSpPr>
          <p:cNvPr id="21" name="text-20"/>
          <p:cNvSpPr txBox="1"/>
          <p:nvPr/>
        </p:nvSpPr>
        <p:spPr>
          <a:xfrm>
            <a:off x="8291345" y="4723190"/>
            <a:ext cx="3353219" cy="3679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1. LLM 기반 주 신호 생성</a:t>
            </a:r>
            <a:endParaRPr lang="en-US" sz="1600" dirty="0"/>
          </a:p>
        </p:txBody>
      </p:sp>
      <p:sp>
        <p:nvSpPr>
          <p:cNvPr id="22" name="text-21"/>
          <p:cNvSpPr txBox="1"/>
          <p:nvPr/>
        </p:nvSpPr>
        <p:spPr>
          <a:xfrm>
            <a:off x="12010370" y="5704356"/>
            <a:ext cx="2011931" cy="57234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600" b="1" dirty="0">
                <a:solidFill>
                  <a:schemeClr val="accent1"/>
                </a:solidFill>
              </a:rPr>
              <a:t>2. TCN 기반</a:t>
            </a:r>
            <a:endParaRPr lang="en-US" sz="16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1600" b="1" dirty="0">
                <a:solidFill>
                  <a:schemeClr val="accent1"/>
                </a:solidFill>
              </a:rPr>
              <a:t>보조 벡터 생성</a:t>
            </a:r>
            <a:endParaRPr lang="en-US" sz="1600" dirty="0"/>
          </a:p>
        </p:txBody>
      </p:sp>
      <p:sp>
        <p:nvSpPr>
          <p:cNvPr id="23" name="node-22"/>
          <p:cNvSpPr/>
          <p:nvPr/>
        </p:nvSpPr>
        <p:spPr>
          <a:xfrm>
            <a:off x="9083924" y="4069080"/>
            <a:ext cx="1950964" cy="449701"/>
          </a:xfrm>
          <a:prstGeom prst="roundRect">
            <a:avLst>
              <a:gd name="adj" fmla="val 20334"/>
            </a:avLst>
          </a:prstGeom>
          <a:solidFill>
            <a:srgbClr val="FFFFFF"/>
          </a:solidFill>
          <a:ln w="15875">
            <a:solidFill>
              <a:srgbClr val="14233F"/>
            </a:solidFill>
            <a:prstDash val="solid"/>
          </a:ln>
        </p:spPr>
      </p:sp>
      <p:sp>
        <p:nvSpPr>
          <p:cNvPr id="24" name="text-23"/>
          <p:cNvSpPr txBox="1"/>
          <p:nvPr/>
        </p:nvSpPr>
        <p:spPr>
          <a:xfrm>
            <a:off x="9157076" y="4069080"/>
            <a:ext cx="1804660" cy="44970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550" dirty="0">
                <a:solidFill>
                  <a:schemeClr val="tx1"/>
                </a:solidFill>
              </a:rPr>
              <a:t>이벤트 발생 (뉴스)</a:t>
            </a:r>
            <a:endParaRPr lang="en-US" sz="1550" dirty="0"/>
          </a:p>
        </p:txBody>
      </p:sp>
      <p:sp>
        <p:nvSpPr>
          <p:cNvPr id="25" name="arrow-24"/>
          <p:cNvSpPr/>
          <p:nvPr/>
        </p:nvSpPr>
        <p:spPr>
          <a:xfrm>
            <a:off x="10059406" y="4518781"/>
            <a:ext cx="0" cy="163528"/>
          </a:xfrm>
          <a:prstGeom prst="line">
            <a:avLst/>
          </a:prstGeom>
          <a:noFill/>
          <a:ln w="22225">
            <a:solidFill>
              <a:srgbClr val="14233F"/>
            </a:solidFill>
            <a:prstDash val="solid"/>
            <a:tailEnd type="triangle"/>
          </a:ln>
        </p:spPr>
      </p:sp>
      <p:sp>
        <p:nvSpPr>
          <p:cNvPr id="26" name="node-25"/>
          <p:cNvSpPr/>
          <p:nvPr/>
        </p:nvSpPr>
        <p:spPr>
          <a:xfrm>
            <a:off x="9388762" y="5132010"/>
            <a:ext cx="1219352" cy="408819"/>
          </a:xfrm>
          <a:prstGeom prst="roundRect">
            <a:avLst>
              <a:gd name="adj" fmla="val 22367"/>
            </a:avLst>
          </a:prstGeom>
          <a:solidFill>
            <a:srgbClr val="FFFFFF"/>
          </a:solidFill>
          <a:ln w="15875">
            <a:solidFill>
              <a:srgbClr val="8A94A6"/>
            </a:solidFill>
            <a:prstDash val="solid"/>
          </a:ln>
        </p:spPr>
      </p:sp>
      <p:sp>
        <p:nvSpPr>
          <p:cNvPr id="27" name="text-26"/>
          <p:cNvSpPr txBox="1"/>
          <p:nvPr/>
        </p:nvSpPr>
        <p:spPr>
          <a:xfrm>
            <a:off x="9461914" y="5132010"/>
            <a:ext cx="1073048" cy="4088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550" dirty="0">
                <a:solidFill>
                  <a:schemeClr val="tx1"/>
                </a:solidFill>
              </a:rPr>
              <a:t>LLM</a:t>
            </a:r>
            <a:endParaRPr lang="en-US" sz="1550" dirty="0"/>
          </a:p>
        </p:txBody>
      </p:sp>
      <p:sp>
        <p:nvSpPr>
          <p:cNvPr id="28" name="arrow-27"/>
          <p:cNvSpPr/>
          <p:nvPr/>
        </p:nvSpPr>
        <p:spPr>
          <a:xfrm>
            <a:off x="9998438" y="5540829"/>
            <a:ext cx="0" cy="138998"/>
          </a:xfrm>
          <a:prstGeom prst="line">
            <a:avLst/>
          </a:prstGeom>
          <a:noFill/>
          <a:ln w="22225">
            <a:solidFill>
              <a:srgbClr val="14233F"/>
            </a:solidFill>
            <a:prstDash val="solid"/>
          </a:ln>
        </p:spPr>
      </p:sp>
      <p:sp>
        <p:nvSpPr>
          <p:cNvPr id="29" name="arrow-28"/>
          <p:cNvSpPr/>
          <p:nvPr/>
        </p:nvSpPr>
        <p:spPr>
          <a:xfrm>
            <a:off x="9266827" y="5679827"/>
            <a:ext cx="1432739" cy="0"/>
          </a:xfrm>
          <a:prstGeom prst="line">
            <a:avLst/>
          </a:prstGeom>
          <a:noFill/>
          <a:ln w="22225">
            <a:solidFill>
              <a:srgbClr val="14233F"/>
            </a:solidFill>
            <a:prstDash val="solid"/>
          </a:ln>
        </p:spPr>
      </p:sp>
      <p:sp>
        <p:nvSpPr>
          <p:cNvPr id="30" name="arrow-29"/>
          <p:cNvSpPr/>
          <p:nvPr/>
        </p:nvSpPr>
        <p:spPr>
          <a:xfrm>
            <a:off x="9266827" y="5679827"/>
            <a:ext cx="0" cy="147175"/>
          </a:xfrm>
          <a:prstGeom prst="line">
            <a:avLst/>
          </a:prstGeom>
          <a:noFill/>
          <a:ln w="22225">
            <a:solidFill>
              <a:srgbClr val="14233F"/>
            </a:solidFill>
            <a:prstDash val="solid"/>
            <a:tailEnd type="triangle"/>
          </a:ln>
        </p:spPr>
      </p:sp>
      <p:sp>
        <p:nvSpPr>
          <p:cNvPr id="31" name="arrow-30"/>
          <p:cNvSpPr/>
          <p:nvPr/>
        </p:nvSpPr>
        <p:spPr>
          <a:xfrm>
            <a:off x="10699566" y="5679827"/>
            <a:ext cx="0" cy="147175"/>
          </a:xfrm>
          <a:prstGeom prst="line">
            <a:avLst/>
          </a:prstGeom>
          <a:noFill/>
          <a:ln w="22225">
            <a:solidFill>
              <a:srgbClr val="14233F"/>
            </a:solidFill>
            <a:prstDash val="solid"/>
            <a:tailEnd type="triangle"/>
          </a:ln>
        </p:spPr>
      </p:sp>
      <p:sp>
        <p:nvSpPr>
          <p:cNvPr id="32" name="node-31"/>
          <p:cNvSpPr/>
          <p:nvPr/>
        </p:nvSpPr>
        <p:spPr>
          <a:xfrm>
            <a:off x="8596183" y="5827002"/>
            <a:ext cx="1341288" cy="408819"/>
          </a:xfrm>
          <a:prstGeom prst="roundRect">
            <a:avLst>
              <a:gd name="adj" fmla="val 22367"/>
            </a:avLst>
          </a:prstGeom>
          <a:solidFill>
            <a:srgbClr val="FFFFFF"/>
          </a:solidFill>
          <a:ln w="15875">
            <a:solidFill>
              <a:srgbClr val="8A94A6"/>
            </a:solidFill>
            <a:prstDash val="solid"/>
          </a:ln>
        </p:spPr>
      </p:sp>
      <p:sp>
        <p:nvSpPr>
          <p:cNvPr id="33" name="text-32"/>
          <p:cNvSpPr txBox="1"/>
          <p:nvPr/>
        </p:nvSpPr>
        <p:spPr>
          <a:xfrm>
            <a:off x="8669335" y="5827002"/>
            <a:ext cx="1194984" cy="4088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550" dirty="0">
                <a:solidFill>
                  <a:schemeClr val="tx1"/>
                </a:solidFill>
              </a:rPr>
              <a:t>뉴스 요약</a:t>
            </a:r>
            <a:endParaRPr lang="en-US" sz="1550" dirty="0"/>
          </a:p>
        </p:txBody>
      </p:sp>
      <p:sp>
        <p:nvSpPr>
          <p:cNvPr id="34" name="node-33"/>
          <p:cNvSpPr/>
          <p:nvPr/>
        </p:nvSpPr>
        <p:spPr>
          <a:xfrm>
            <a:off x="10059406" y="5827002"/>
            <a:ext cx="1280320" cy="408819"/>
          </a:xfrm>
          <a:prstGeom prst="roundRect">
            <a:avLst>
              <a:gd name="adj" fmla="val 22367"/>
            </a:avLst>
          </a:prstGeom>
          <a:solidFill>
            <a:srgbClr val="FFFFFF"/>
          </a:solidFill>
          <a:ln w="15875">
            <a:solidFill>
              <a:srgbClr val="8A94A6"/>
            </a:solidFill>
            <a:prstDash val="solid"/>
          </a:ln>
        </p:spPr>
      </p:sp>
      <p:sp>
        <p:nvSpPr>
          <p:cNvPr id="35" name="text-34"/>
          <p:cNvSpPr txBox="1"/>
          <p:nvPr/>
        </p:nvSpPr>
        <p:spPr>
          <a:xfrm>
            <a:off x="10132558" y="5827002"/>
            <a:ext cx="1134016" cy="4088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550" dirty="0">
                <a:solidFill>
                  <a:schemeClr val="tx1"/>
                </a:solidFill>
              </a:rPr>
              <a:t>감성 점수</a:t>
            </a:r>
            <a:endParaRPr lang="en-US" sz="1550" dirty="0"/>
          </a:p>
        </p:txBody>
      </p:sp>
      <p:sp>
        <p:nvSpPr>
          <p:cNvPr id="36" name="arrow-35"/>
          <p:cNvSpPr/>
          <p:nvPr/>
        </p:nvSpPr>
        <p:spPr>
          <a:xfrm>
            <a:off x="9266827" y="6235821"/>
            <a:ext cx="0" cy="204410"/>
          </a:xfrm>
          <a:prstGeom prst="line">
            <a:avLst/>
          </a:prstGeom>
          <a:noFill/>
          <a:ln w="22225">
            <a:solidFill>
              <a:srgbClr val="14233F"/>
            </a:solidFill>
            <a:prstDash val="solid"/>
            <a:tailEnd type="triangle"/>
          </a:ln>
        </p:spPr>
      </p:sp>
      <p:sp>
        <p:nvSpPr>
          <p:cNvPr id="37" name="node-36"/>
          <p:cNvSpPr/>
          <p:nvPr/>
        </p:nvSpPr>
        <p:spPr>
          <a:xfrm>
            <a:off x="8596183" y="6440230"/>
            <a:ext cx="1341288" cy="327055"/>
          </a:xfrm>
          <a:prstGeom prst="roundRect">
            <a:avLst>
              <a:gd name="adj" fmla="val 27959"/>
            </a:avLst>
          </a:prstGeom>
          <a:solidFill>
            <a:srgbClr val="FFFFFF"/>
          </a:solidFill>
          <a:ln w="15875">
            <a:solidFill>
              <a:srgbClr val="8A94A6"/>
            </a:solidFill>
            <a:prstDash val="solid"/>
          </a:ln>
        </p:spPr>
      </p:sp>
      <p:sp>
        <p:nvSpPr>
          <p:cNvPr id="38" name="text-37"/>
          <p:cNvSpPr txBox="1"/>
          <p:nvPr/>
        </p:nvSpPr>
        <p:spPr>
          <a:xfrm>
            <a:off x="8669335" y="6440230"/>
            <a:ext cx="1194984" cy="3270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550" dirty="0">
                <a:solidFill>
                  <a:schemeClr val="tx1"/>
                </a:solidFill>
              </a:rPr>
              <a:t>임베딩 생성</a:t>
            </a:r>
            <a:endParaRPr lang="en-US" sz="1550" dirty="0"/>
          </a:p>
        </p:txBody>
      </p:sp>
      <p:sp>
        <p:nvSpPr>
          <p:cNvPr id="39" name="arrow-38"/>
          <p:cNvSpPr/>
          <p:nvPr/>
        </p:nvSpPr>
        <p:spPr>
          <a:xfrm>
            <a:off x="9266827" y="6767286"/>
            <a:ext cx="0" cy="163528"/>
          </a:xfrm>
          <a:prstGeom prst="line">
            <a:avLst/>
          </a:prstGeom>
          <a:noFill/>
          <a:ln w="22225">
            <a:solidFill>
              <a:srgbClr val="14233F"/>
            </a:solidFill>
            <a:prstDash val="solid"/>
            <a:tailEnd type="triangle"/>
          </a:ln>
        </p:spPr>
      </p:sp>
      <p:sp>
        <p:nvSpPr>
          <p:cNvPr id="40" name="arrow-39"/>
          <p:cNvSpPr/>
          <p:nvPr/>
        </p:nvSpPr>
        <p:spPr>
          <a:xfrm>
            <a:off x="10699566" y="6235821"/>
            <a:ext cx="0" cy="694992"/>
          </a:xfrm>
          <a:prstGeom prst="line">
            <a:avLst/>
          </a:prstGeom>
          <a:noFill/>
          <a:ln w="22225">
            <a:solidFill>
              <a:srgbClr val="14233F"/>
            </a:solidFill>
            <a:prstDash val="solid"/>
            <a:tailEnd type="triangle"/>
          </a:ln>
        </p:spPr>
      </p:sp>
      <p:sp>
        <p:nvSpPr>
          <p:cNvPr id="41" name="node-40"/>
          <p:cNvSpPr/>
          <p:nvPr/>
        </p:nvSpPr>
        <p:spPr>
          <a:xfrm>
            <a:off x="8474248" y="6930813"/>
            <a:ext cx="2987413" cy="327055"/>
          </a:xfrm>
          <a:prstGeom prst="roundRect">
            <a:avLst>
              <a:gd name="adj" fmla="val 27959"/>
            </a:avLst>
          </a:prstGeom>
          <a:solidFill>
            <a:srgbClr val="FFFFFF"/>
          </a:solidFill>
          <a:ln w="15875">
            <a:solidFill>
              <a:srgbClr val="8A94A6"/>
            </a:solidFill>
            <a:prstDash val="solid"/>
          </a:ln>
        </p:spPr>
      </p:sp>
      <p:sp>
        <p:nvSpPr>
          <p:cNvPr id="42" name="text-41"/>
          <p:cNvSpPr txBox="1"/>
          <p:nvPr/>
        </p:nvSpPr>
        <p:spPr>
          <a:xfrm>
            <a:off x="8547400" y="6930813"/>
            <a:ext cx="2841109" cy="3270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550" dirty="0">
                <a:solidFill>
                  <a:schemeClr val="tx1"/>
                </a:solidFill>
              </a:rPr>
              <a:t>완전 연결층</a:t>
            </a:r>
            <a:endParaRPr lang="en-US" sz="1550" dirty="0"/>
          </a:p>
        </p:txBody>
      </p:sp>
      <p:sp>
        <p:nvSpPr>
          <p:cNvPr id="43" name="node-42"/>
          <p:cNvSpPr/>
          <p:nvPr/>
        </p:nvSpPr>
        <p:spPr>
          <a:xfrm>
            <a:off x="12254240" y="6317585"/>
            <a:ext cx="1524191" cy="327055"/>
          </a:xfrm>
          <a:prstGeom prst="roundRect">
            <a:avLst>
              <a:gd name="adj" fmla="val 27959"/>
            </a:avLst>
          </a:prstGeom>
          <a:solidFill>
            <a:srgbClr val="FFFFFF"/>
          </a:solidFill>
          <a:ln w="15875">
            <a:solidFill>
              <a:srgbClr val="8A94A6"/>
            </a:solidFill>
            <a:prstDash val="solid"/>
          </a:ln>
        </p:spPr>
      </p:sp>
      <p:sp>
        <p:nvSpPr>
          <p:cNvPr id="44" name="text-43"/>
          <p:cNvSpPr txBox="1"/>
          <p:nvPr/>
        </p:nvSpPr>
        <p:spPr>
          <a:xfrm>
            <a:off x="12327392" y="6317585"/>
            <a:ext cx="1377887" cy="3270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550" dirty="0">
                <a:solidFill>
                  <a:schemeClr val="tx1"/>
                </a:solidFill>
              </a:rPr>
              <a:t>기술적 지표</a:t>
            </a:r>
            <a:endParaRPr lang="en-US" sz="1550" dirty="0"/>
          </a:p>
        </p:txBody>
      </p:sp>
      <p:sp>
        <p:nvSpPr>
          <p:cNvPr id="45" name="arrow-44"/>
          <p:cNvSpPr/>
          <p:nvPr/>
        </p:nvSpPr>
        <p:spPr>
          <a:xfrm>
            <a:off x="13016335" y="6644640"/>
            <a:ext cx="0" cy="245291"/>
          </a:xfrm>
          <a:prstGeom prst="line">
            <a:avLst/>
          </a:prstGeom>
          <a:noFill/>
          <a:ln w="22225">
            <a:solidFill>
              <a:srgbClr val="14233F"/>
            </a:solidFill>
            <a:prstDash val="solid"/>
            <a:tailEnd type="triangle"/>
          </a:ln>
        </p:spPr>
      </p:sp>
      <p:sp>
        <p:nvSpPr>
          <p:cNvPr id="46" name="node-45"/>
          <p:cNvSpPr/>
          <p:nvPr/>
        </p:nvSpPr>
        <p:spPr>
          <a:xfrm>
            <a:off x="12254240" y="6889931"/>
            <a:ext cx="1524191" cy="327055"/>
          </a:xfrm>
          <a:prstGeom prst="roundRect">
            <a:avLst>
              <a:gd name="adj" fmla="val 27959"/>
            </a:avLst>
          </a:prstGeom>
          <a:solidFill>
            <a:srgbClr val="FFFFFF"/>
          </a:solidFill>
          <a:ln w="15875">
            <a:solidFill>
              <a:srgbClr val="8A94A6"/>
            </a:solidFill>
            <a:prstDash val="solid"/>
          </a:ln>
        </p:spPr>
      </p:sp>
      <p:sp>
        <p:nvSpPr>
          <p:cNvPr id="47" name="text-46"/>
          <p:cNvSpPr txBox="1"/>
          <p:nvPr/>
        </p:nvSpPr>
        <p:spPr>
          <a:xfrm>
            <a:off x="12327392" y="6889931"/>
            <a:ext cx="1377887" cy="3270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550" dirty="0">
                <a:solidFill>
                  <a:schemeClr val="tx1"/>
                </a:solidFill>
              </a:rPr>
              <a:t>TCN</a:t>
            </a:r>
            <a:endParaRPr lang="en-US" sz="1550" dirty="0"/>
          </a:p>
        </p:txBody>
      </p:sp>
      <p:sp>
        <p:nvSpPr>
          <p:cNvPr id="48" name="arrow-47"/>
          <p:cNvSpPr/>
          <p:nvPr/>
        </p:nvSpPr>
        <p:spPr>
          <a:xfrm>
            <a:off x="9967954" y="7380514"/>
            <a:ext cx="0" cy="204410"/>
          </a:xfrm>
          <a:prstGeom prst="line">
            <a:avLst/>
          </a:prstGeom>
          <a:noFill/>
          <a:ln w="22225">
            <a:solidFill>
              <a:srgbClr val="14233F"/>
            </a:solidFill>
            <a:prstDash val="solid"/>
            <a:tailEnd type="triangle"/>
          </a:ln>
        </p:spPr>
      </p:sp>
      <p:sp>
        <p:nvSpPr>
          <p:cNvPr id="49" name="arrow-48"/>
          <p:cNvSpPr/>
          <p:nvPr/>
        </p:nvSpPr>
        <p:spPr>
          <a:xfrm>
            <a:off x="13016335" y="7380514"/>
            <a:ext cx="0" cy="204410"/>
          </a:xfrm>
          <a:prstGeom prst="line">
            <a:avLst/>
          </a:prstGeom>
          <a:noFill/>
          <a:ln w="22225">
            <a:solidFill>
              <a:srgbClr val="14233F"/>
            </a:solidFill>
            <a:prstDash val="solid"/>
            <a:tailEnd type="triangle"/>
          </a:ln>
        </p:spPr>
      </p:sp>
      <p:sp>
        <p:nvSpPr>
          <p:cNvPr id="50" name="node-49"/>
          <p:cNvSpPr/>
          <p:nvPr/>
        </p:nvSpPr>
        <p:spPr>
          <a:xfrm>
            <a:off x="8291345" y="7584924"/>
            <a:ext cx="3353219" cy="490583"/>
          </a:xfrm>
          <a:prstGeom prst="roundRect">
            <a:avLst>
              <a:gd name="adj" fmla="val 18639"/>
            </a:avLst>
          </a:prstGeom>
          <a:solidFill>
            <a:srgbClr val="FFFFFF"/>
          </a:solidFill>
          <a:ln w="15875">
            <a:solidFill>
              <a:srgbClr val="14233F"/>
            </a:solidFill>
            <a:prstDash val="solid"/>
          </a:ln>
        </p:spPr>
      </p:sp>
      <p:sp>
        <p:nvSpPr>
          <p:cNvPr id="51" name="text-50"/>
          <p:cNvSpPr txBox="1"/>
          <p:nvPr/>
        </p:nvSpPr>
        <p:spPr>
          <a:xfrm>
            <a:off x="8364497" y="7584924"/>
            <a:ext cx="3206915" cy="49058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550" b="1" dirty="0">
                <a:solidFill>
                  <a:schemeClr val="tx1"/>
                </a:solidFill>
              </a:rPr>
              <a:t>주 신호: 512차원 벡터</a:t>
            </a:r>
            <a:endParaRPr lang="en-US" sz="1550" dirty="0"/>
          </a:p>
        </p:txBody>
      </p:sp>
      <p:sp>
        <p:nvSpPr>
          <p:cNvPr id="52" name="node-51"/>
          <p:cNvSpPr/>
          <p:nvPr/>
        </p:nvSpPr>
        <p:spPr>
          <a:xfrm>
            <a:off x="12010370" y="7584924"/>
            <a:ext cx="2011931" cy="490583"/>
          </a:xfrm>
          <a:prstGeom prst="roundRect">
            <a:avLst>
              <a:gd name="adj" fmla="val 18639"/>
            </a:avLst>
          </a:prstGeom>
          <a:solidFill>
            <a:srgbClr val="FFFFFF"/>
          </a:solidFill>
          <a:ln w="15875">
            <a:solidFill>
              <a:srgbClr val="2E8B57"/>
            </a:solidFill>
            <a:prstDash val="solid"/>
          </a:ln>
        </p:spPr>
      </p:sp>
      <p:sp>
        <p:nvSpPr>
          <p:cNvPr id="53" name="text-52"/>
          <p:cNvSpPr txBox="1"/>
          <p:nvPr/>
        </p:nvSpPr>
        <p:spPr>
          <a:xfrm>
            <a:off x="12083522" y="7584924"/>
            <a:ext cx="1865627" cy="49058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450" b="1" dirty="0">
                <a:solidFill>
                  <a:schemeClr val="tx1"/>
                </a:solidFill>
              </a:rPr>
              <a:t>보조 신호:</a:t>
            </a:r>
            <a:endParaRPr lang="en-US" sz="145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1450" b="1" dirty="0">
                <a:solidFill>
                  <a:schemeClr val="tx1"/>
                </a:solidFill>
              </a:rPr>
              <a:t>(T, 512)차원 벡터</a:t>
            </a:r>
            <a:endParaRPr lang="en-US" sz="1450" dirty="0"/>
          </a:p>
        </p:txBody>
      </p:sp>
      <p:sp>
        <p:nvSpPr>
          <p:cNvPr id="54" name="arrow-53"/>
          <p:cNvSpPr/>
          <p:nvPr/>
        </p:nvSpPr>
        <p:spPr>
          <a:xfrm>
            <a:off x="9967954" y="8075507"/>
            <a:ext cx="0" cy="179880"/>
          </a:xfrm>
          <a:prstGeom prst="line">
            <a:avLst/>
          </a:prstGeom>
          <a:noFill/>
          <a:ln w="22225">
            <a:solidFill>
              <a:srgbClr val="14233F"/>
            </a:solidFill>
            <a:prstDash val="solid"/>
          </a:ln>
        </p:spPr>
      </p:sp>
      <p:sp>
        <p:nvSpPr>
          <p:cNvPr id="55" name="arrow-54"/>
          <p:cNvSpPr/>
          <p:nvPr/>
        </p:nvSpPr>
        <p:spPr>
          <a:xfrm>
            <a:off x="13016335" y="8075507"/>
            <a:ext cx="0" cy="179880"/>
          </a:xfrm>
          <a:prstGeom prst="line">
            <a:avLst/>
          </a:prstGeom>
          <a:noFill/>
          <a:ln w="22225">
            <a:solidFill>
              <a:srgbClr val="14233F"/>
            </a:solidFill>
            <a:prstDash val="solid"/>
          </a:ln>
        </p:spPr>
      </p:sp>
      <p:sp>
        <p:nvSpPr>
          <p:cNvPr id="56" name="arrow-55"/>
          <p:cNvSpPr/>
          <p:nvPr/>
        </p:nvSpPr>
        <p:spPr>
          <a:xfrm>
            <a:off x="9967954" y="8255387"/>
            <a:ext cx="3048381" cy="0"/>
          </a:xfrm>
          <a:prstGeom prst="line">
            <a:avLst/>
          </a:prstGeom>
          <a:noFill/>
          <a:ln w="22225">
            <a:solidFill>
              <a:srgbClr val="14233F"/>
            </a:solidFill>
            <a:prstDash val="solid"/>
          </a:ln>
        </p:spPr>
      </p:sp>
      <p:sp>
        <p:nvSpPr>
          <p:cNvPr id="57" name="arrow-56"/>
          <p:cNvSpPr/>
          <p:nvPr/>
        </p:nvSpPr>
        <p:spPr>
          <a:xfrm>
            <a:off x="11461661" y="8255387"/>
            <a:ext cx="0" cy="228939"/>
          </a:xfrm>
          <a:prstGeom prst="line">
            <a:avLst/>
          </a:prstGeom>
          <a:noFill/>
          <a:ln w="22225">
            <a:solidFill>
              <a:srgbClr val="14233F"/>
            </a:solidFill>
            <a:prstDash val="solid"/>
            <a:tailEnd type="triangle"/>
          </a:ln>
        </p:spPr>
      </p:sp>
      <p:sp>
        <p:nvSpPr>
          <p:cNvPr id="58" name="node-57"/>
          <p:cNvSpPr/>
          <p:nvPr/>
        </p:nvSpPr>
        <p:spPr>
          <a:xfrm>
            <a:off x="9266827" y="8484326"/>
            <a:ext cx="4389669" cy="449701"/>
          </a:xfrm>
          <a:prstGeom prst="roundRect">
            <a:avLst>
              <a:gd name="adj" fmla="val 20334"/>
            </a:avLst>
          </a:prstGeom>
          <a:solidFill>
            <a:srgbClr val="FBE8D0"/>
          </a:solidFill>
          <a:ln w="15875">
            <a:solidFill>
              <a:srgbClr val="E3A12F"/>
            </a:solidFill>
            <a:prstDash val="solid"/>
          </a:ln>
        </p:spPr>
      </p:sp>
      <p:sp>
        <p:nvSpPr>
          <p:cNvPr id="59" name="text-58"/>
          <p:cNvSpPr txBox="1"/>
          <p:nvPr/>
        </p:nvSpPr>
        <p:spPr>
          <a:xfrm>
            <a:off x="9339979" y="8484326"/>
            <a:ext cx="4243365" cy="44970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700" b="1" dirty="0">
                <a:solidFill>
                  <a:schemeClr val="tx1"/>
                </a:solidFill>
              </a:rPr>
              <a:t>3. 비대칭 교차 어텐션</a:t>
            </a:r>
            <a:endParaRPr lang="en-US" sz="1700" dirty="0"/>
          </a:p>
        </p:txBody>
      </p:sp>
      <p:sp>
        <p:nvSpPr>
          <p:cNvPr id="60" name="arrow-59"/>
          <p:cNvSpPr/>
          <p:nvPr/>
        </p:nvSpPr>
        <p:spPr>
          <a:xfrm>
            <a:off x="11461661" y="8934027"/>
            <a:ext cx="0" cy="204410"/>
          </a:xfrm>
          <a:prstGeom prst="line">
            <a:avLst/>
          </a:prstGeom>
          <a:noFill/>
          <a:ln w="22225">
            <a:solidFill>
              <a:srgbClr val="14233F"/>
            </a:solidFill>
            <a:prstDash val="solid"/>
            <a:tailEnd type="triangle"/>
          </a:ln>
        </p:spPr>
      </p:sp>
      <p:sp>
        <p:nvSpPr>
          <p:cNvPr id="61" name="node-60"/>
          <p:cNvSpPr/>
          <p:nvPr/>
        </p:nvSpPr>
        <p:spPr>
          <a:xfrm>
            <a:off x="9937471" y="9138436"/>
            <a:ext cx="3048381" cy="327055"/>
          </a:xfrm>
          <a:prstGeom prst="roundRect">
            <a:avLst>
              <a:gd name="adj" fmla="val 27959"/>
            </a:avLst>
          </a:prstGeom>
          <a:solidFill>
            <a:srgbClr val="FFFFFF"/>
          </a:solidFill>
          <a:ln w="15875">
            <a:solidFill>
              <a:srgbClr val="8A94A6"/>
            </a:solidFill>
            <a:prstDash val="solid"/>
          </a:ln>
        </p:spPr>
      </p:sp>
      <p:sp>
        <p:nvSpPr>
          <p:cNvPr id="62" name="text-61"/>
          <p:cNvSpPr txBox="1"/>
          <p:nvPr/>
        </p:nvSpPr>
        <p:spPr>
          <a:xfrm>
            <a:off x="10010623" y="9138436"/>
            <a:ext cx="2902077" cy="3270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550" dirty="0">
                <a:solidFill>
                  <a:schemeClr val="tx1"/>
                </a:solidFill>
              </a:rPr>
              <a:t>보조 문맥 벡터: 512차원</a:t>
            </a:r>
            <a:endParaRPr lang="en-US" sz="1550" dirty="0"/>
          </a:p>
        </p:txBody>
      </p:sp>
      <p:sp>
        <p:nvSpPr>
          <p:cNvPr id="63" name="arrow-62"/>
          <p:cNvSpPr/>
          <p:nvPr/>
        </p:nvSpPr>
        <p:spPr>
          <a:xfrm>
            <a:off x="11461661" y="9465491"/>
            <a:ext cx="0" cy="204410"/>
          </a:xfrm>
          <a:prstGeom prst="line">
            <a:avLst/>
          </a:prstGeom>
          <a:noFill/>
          <a:ln w="22225">
            <a:solidFill>
              <a:srgbClr val="14233F"/>
            </a:solidFill>
            <a:prstDash val="solid"/>
            <a:tailEnd type="triangle"/>
          </a:ln>
        </p:spPr>
      </p:sp>
      <p:sp>
        <p:nvSpPr>
          <p:cNvPr id="64" name="node-63"/>
          <p:cNvSpPr/>
          <p:nvPr/>
        </p:nvSpPr>
        <p:spPr>
          <a:xfrm>
            <a:off x="9266827" y="9669901"/>
            <a:ext cx="4389669" cy="449701"/>
          </a:xfrm>
          <a:prstGeom prst="roundRect">
            <a:avLst>
              <a:gd name="adj" fmla="val 20334"/>
            </a:avLst>
          </a:prstGeom>
          <a:solidFill>
            <a:srgbClr val="FBE8D0"/>
          </a:solidFill>
          <a:ln w="15875">
            <a:solidFill>
              <a:srgbClr val="E3A12F"/>
            </a:solidFill>
            <a:prstDash val="solid"/>
          </a:ln>
        </p:spPr>
      </p:sp>
      <p:sp>
        <p:nvSpPr>
          <p:cNvPr id="65" name="text-64"/>
          <p:cNvSpPr txBox="1"/>
          <p:nvPr/>
        </p:nvSpPr>
        <p:spPr>
          <a:xfrm>
            <a:off x="9339979" y="9669901"/>
            <a:ext cx="4243365" cy="44970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700" b="1" dirty="0">
                <a:solidFill>
                  <a:schemeClr val="tx1"/>
                </a:solidFill>
              </a:rPr>
              <a:t>4. 게이트 기반 잔차 결합</a:t>
            </a:r>
            <a:endParaRPr lang="en-US" sz="1700" dirty="0"/>
          </a:p>
        </p:txBody>
      </p:sp>
      <p:sp>
        <p:nvSpPr>
          <p:cNvPr id="66" name="arrow-65"/>
          <p:cNvSpPr/>
          <p:nvPr/>
        </p:nvSpPr>
        <p:spPr>
          <a:xfrm>
            <a:off x="7925539" y="7830215"/>
            <a:ext cx="365806" cy="0"/>
          </a:xfrm>
          <a:prstGeom prst="line">
            <a:avLst/>
          </a:prstGeom>
          <a:noFill/>
          <a:ln w="22225">
            <a:solidFill>
              <a:srgbClr val="14233F"/>
            </a:solidFill>
            <a:prstDash val="solid"/>
          </a:ln>
        </p:spPr>
      </p:sp>
      <p:sp>
        <p:nvSpPr>
          <p:cNvPr id="67" name="arrow-66"/>
          <p:cNvSpPr/>
          <p:nvPr/>
        </p:nvSpPr>
        <p:spPr>
          <a:xfrm>
            <a:off x="7925539" y="7830215"/>
            <a:ext cx="0" cy="2064536"/>
          </a:xfrm>
          <a:prstGeom prst="line">
            <a:avLst/>
          </a:prstGeom>
          <a:noFill/>
          <a:ln w="22225">
            <a:solidFill>
              <a:srgbClr val="14233F"/>
            </a:solidFill>
            <a:prstDash val="solid"/>
          </a:ln>
        </p:spPr>
      </p:sp>
      <p:sp>
        <p:nvSpPr>
          <p:cNvPr id="68" name="arrow-67"/>
          <p:cNvSpPr/>
          <p:nvPr/>
        </p:nvSpPr>
        <p:spPr>
          <a:xfrm>
            <a:off x="7925539" y="9894751"/>
            <a:ext cx="1341288" cy="0"/>
          </a:xfrm>
          <a:prstGeom prst="line">
            <a:avLst/>
          </a:prstGeom>
          <a:noFill/>
          <a:ln w="22225">
            <a:solidFill>
              <a:srgbClr val="14233F"/>
            </a:solidFill>
            <a:prstDash val="solid"/>
            <a:tailEnd type="triangle"/>
          </a:ln>
        </p:spPr>
      </p:sp>
      <p:sp>
        <p:nvSpPr>
          <p:cNvPr id="69" name="arrow-68"/>
          <p:cNvSpPr/>
          <p:nvPr/>
        </p:nvSpPr>
        <p:spPr>
          <a:xfrm>
            <a:off x="11461661" y="10119602"/>
            <a:ext cx="0" cy="204410"/>
          </a:xfrm>
          <a:prstGeom prst="line">
            <a:avLst/>
          </a:prstGeom>
          <a:noFill/>
          <a:ln w="22225">
            <a:solidFill>
              <a:srgbClr val="14233F"/>
            </a:solidFill>
            <a:prstDash val="solid"/>
            <a:tailEnd type="triangle"/>
          </a:ln>
        </p:spPr>
      </p:sp>
      <p:sp>
        <p:nvSpPr>
          <p:cNvPr id="70" name="node-69"/>
          <p:cNvSpPr/>
          <p:nvPr/>
        </p:nvSpPr>
        <p:spPr>
          <a:xfrm>
            <a:off x="9937471" y="10324011"/>
            <a:ext cx="3048381" cy="327055"/>
          </a:xfrm>
          <a:prstGeom prst="roundRect">
            <a:avLst>
              <a:gd name="adj" fmla="val 27959"/>
            </a:avLst>
          </a:prstGeom>
          <a:solidFill>
            <a:srgbClr val="FFFFFF"/>
          </a:solidFill>
          <a:ln w="15875">
            <a:solidFill>
              <a:srgbClr val="8A94A6"/>
            </a:solidFill>
            <a:prstDash val="solid"/>
          </a:ln>
        </p:spPr>
      </p:sp>
      <p:sp>
        <p:nvSpPr>
          <p:cNvPr id="71" name="text-70"/>
          <p:cNvSpPr txBox="1"/>
          <p:nvPr/>
        </p:nvSpPr>
        <p:spPr>
          <a:xfrm>
            <a:off x="10010623" y="10324011"/>
            <a:ext cx="2902077" cy="3270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550" dirty="0">
                <a:solidFill>
                  <a:schemeClr val="tx1"/>
                </a:solidFill>
              </a:rPr>
              <a:t>통합 표현 벡터: 512차원</a:t>
            </a:r>
            <a:endParaRPr lang="en-US" sz="1550" dirty="0"/>
          </a:p>
        </p:txBody>
      </p:sp>
      <p:sp>
        <p:nvSpPr>
          <p:cNvPr id="72" name="arrow-71"/>
          <p:cNvSpPr/>
          <p:nvPr/>
        </p:nvSpPr>
        <p:spPr>
          <a:xfrm>
            <a:off x="11461661" y="10651067"/>
            <a:ext cx="0" cy="204410"/>
          </a:xfrm>
          <a:prstGeom prst="line">
            <a:avLst/>
          </a:prstGeom>
          <a:noFill/>
          <a:ln w="22225">
            <a:solidFill>
              <a:srgbClr val="14233F"/>
            </a:solidFill>
            <a:prstDash val="solid"/>
            <a:tailEnd type="triangle"/>
          </a:ln>
        </p:spPr>
      </p:sp>
      <p:sp>
        <p:nvSpPr>
          <p:cNvPr id="73" name="node-72"/>
          <p:cNvSpPr/>
          <p:nvPr/>
        </p:nvSpPr>
        <p:spPr>
          <a:xfrm>
            <a:off x="9266827" y="10855476"/>
            <a:ext cx="4389669" cy="449701"/>
          </a:xfrm>
          <a:prstGeom prst="roundRect">
            <a:avLst>
              <a:gd name="adj" fmla="val 20334"/>
            </a:avLst>
          </a:prstGeom>
          <a:solidFill>
            <a:srgbClr val="FBE8D0"/>
          </a:solidFill>
          <a:ln w="15875">
            <a:solidFill>
              <a:srgbClr val="E3A12F"/>
            </a:solidFill>
            <a:prstDash val="solid"/>
          </a:ln>
        </p:spPr>
      </p:sp>
      <p:sp>
        <p:nvSpPr>
          <p:cNvPr id="74" name="text-73"/>
          <p:cNvSpPr txBox="1"/>
          <p:nvPr/>
        </p:nvSpPr>
        <p:spPr>
          <a:xfrm>
            <a:off x="9339979" y="10855476"/>
            <a:ext cx="4243365" cy="44970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700" b="1" dirty="0">
                <a:solidFill>
                  <a:schemeClr val="tx1"/>
                </a:solidFill>
              </a:rPr>
              <a:t>5. 등락률 예측</a:t>
            </a:r>
            <a:endParaRPr lang="en-US" sz="1700" dirty="0"/>
          </a:p>
        </p:txBody>
      </p:sp>
      <p:sp>
        <p:nvSpPr>
          <p:cNvPr id="75" name="arrow-74"/>
          <p:cNvSpPr/>
          <p:nvPr/>
        </p:nvSpPr>
        <p:spPr>
          <a:xfrm>
            <a:off x="11461661" y="11305177"/>
            <a:ext cx="0" cy="163528"/>
          </a:xfrm>
          <a:prstGeom prst="line">
            <a:avLst/>
          </a:prstGeom>
          <a:noFill/>
          <a:ln w="22225">
            <a:solidFill>
              <a:srgbClr val="14233F"/>
            </a:solidFill>
            <a:prstDash val="solid"/>
            <a:tailEnd type="triangle"/>
          </a:ln>
        </p:spPr>
      </p:sp>
      <p:sp>
        <p:nvSpPr>
          <p:cNvPr id="76" name="node-75"/>
          <p:cNvSpPr/>
          <p:nvPr/>
        </p:nvSpPr>
        <p:spPr>
          <a:xfrm>
            <a:off x="10181341" y="11468705"/>
            <a:ext cx="2560640" cy="327055"/>
          </a:xfrm>
          <a:prstGeom prst="roundRect">
            <a:avLst>
              <a:gd name="adj" fmla="val 27959"/>
            </a:avLst>
          </a:prstGeom>
          <a:solidFill>
            <a:srgbClr val="14233F"/>
          </a:solidFill>
          <a:ln w="15875">
            <a:solidFill>
              <a:srgbClr val="14233F"/>
            </a:solidFill>
            <a:prstDash val="solid"/>
          </a:ln>
        </p:spPr>
      </p:sp>
      <p:sp>
        <p:nvSpPr>
          <p:cNvPr id="77" name="text-76"/>
          <p:cNvSpPr txBox="1"/>
          <p:nvPr/>
        </p:nvSpPr>
        <p:spPr>
          <a:xfrm>
            <a:off x="10254493" y="11468705"/>
            <a:ext cx="2414336" cy="3270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550" b="1" dirty="0">
                <a:solidFill>
                  <a:schemeClr val="bg1"/>
                </a:solidFill>
              </a:rPr>
              <a:t>등락률</a:t>
            </a:r>
            <a:endParaRPr lang="en-US" sz="1550" dirty="0"/>
          </a:p>
        </p:txBody>
      </p:sp>
      <p:sp>
        <p:nvSpPr>
          <p:cNvPr id="78" name="card-77"/>
          <p:cNvSpPr/>
          <p:nvPr/>
        </p:nvSpPr>
        <p:spPr>
          <a:xfrm>
            <a:off x="7742682" y="12344400"/>
            <a:ext cx="6828282" cy="4663440"/>
          </a:xfrm>
          <a:prstGeom prst="roundRect">
            <a:avLst>
              <a:gd name="adj" fmla="val 3529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79" name="badge-78"/>
          <p:cNvSpPr/>
          <p:nvPr/>
        </p:nvSpPr>
        <p:spPr>
          <a:xfrm>
            <a:off x="8062722" y="12618720"/>
            <a:ext cx="621792" cy="621792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80" name="text-79"/>
          <p:cNvSpPr txBox="1"/>
          <p:nvPr/>
        </p:nvSpPr>
        <p:spPr>
          <a:xfrm>
            <a:off x="8062722" y="12618720"/>
            <a:ext cx="62179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chemeClr val="accent1"/>
                </a:solidFill>
              </a:rPr>
              <a:t>4</a:t>
            </a:r>
            <a:endParaRPr lang="en-US" sz="2600" dirty="0"/>
          </a:p>
        </p:txBody>
      </p:sp>
      <p:sp>
        <p:nvSpPr>
          <p:cNvPr id="81" name="text-80"/>
          <p:cNvSpPr txBox="1"/>
          <p:nvPr/>
        </p:nvSpPr>
        <p:spPr>
          <a:xfrm>
            <a:off x="8839962" y="12618720"/>
            <a:ext cx="545668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accent1"/>
                </a:solidFill>
              </a:rPr>
              <a:t>Source Program</a:t>
            </a:r>
            <a:endParaRPr lang="en-US" sz="3200" dirty="0"/>
          </a:p>
        </p:txBody>
      </p:sp>
      <p:pic>
        <p:nvPicPr>
          <p:cNvPr id="82" name="qr" descr="GitHub 저장소 QR 코드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08442" y="13487400"/>
            <a:ext cx="1371600" cy="1371600"/>
          </a:xfrm>
          <a:prstGeom prst="rect">
            <a:avLst/>
          </a:prstGeom>
        </p:spPr>
      </p:pic>
      <p:sp>
        <p:nvSpPr>
          <p:cNvPr id="83" name="text-81"/>
          <p:cNvSpPr txBox="1"/>
          <p:nvPr/>
        </p:nvSpPr>
        <p:spPr>
          <a:xfrm>
            <a:off x="9754362" y="13487400"/>
            <a:ext cx="4450842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1700" b="1" dirty="0">
                <a:solidFill>
                  <a:schemeClr val="accent1"/>
                </a:solidFill>
              </a:rPr>
              <a:t>GitHub 저장소</a:t>
            </a:r>
            <a:endParaRPr lang="en-US" sz="17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700" b="1" dirty="0">
                <a:solidFill>
                  <a:schemeClr val="accent3"/>
                </a:solidFill>
              </a:rPr>
              <a:t>github.com/kimsangmin1234/jolup</a:t>
            </a:r>
            <a:endParaRPr lang="en-US" sz="17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500" b="1" dirty="0">
                <a:solidFill>
                  <a:schemeClr val="accent1"/>
                </a:solidFill>
              </a:rPr>
              <a:t>개발 환경  </a:t>
            </a:r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Python · PyTorch · LightGBM · OpenAI API</a:t>
            </a:r>
            <a:endParaRPr lang="en-US" sz="1700" dirty="0"/>
          </a:p>
        </p:txBody>
      </p:sp>
      <p:graphicFrame>
        <p:nvGraphicFramePr>
          <p:cNvPr id="2" name="src-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108442" y="14996160"/>
          <a:ext cx="6096762" cy="914400"/>
        </p:xfrm>
        <a:graphic>
          <a:graphicData uri="http://schemas.openxmlformats.org/drawingml/2006/table">
            <a:tbl>
              <a:tblPr/>
              <a:tblGrid>
                <a:gridCol w="2971800"/>
                <a:gridCol w="3124962"/>
              </a:tblGrid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modules/news_encoder.py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50" dirty="0">
                          <a:solidFill>
                            <a:schemeClr val="tx1"/>
                          </a:solidFill>
                        </a:rPr>
                        <a:t>① LLM 기반 주 신호</a:t>
                      </a:r>
                      <a:endParaRPr lang="en-US" sz="145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modules/tcn_encoder.py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50" dirty="0">
                          <a:solidFill>
                            <a:schemeClr val="tx1"/>
                          </a:solidFill>
                        </a:rPr>
                        <a:t>② TCN 기반 보조 벡터</a:t>
                      </a:r>
                      <a:endParaRPr lang="en-US" sz="145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modules/cross_attention.py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50" dirty="0">
                          <a:solidFill>
                            <a:schemeClr val="tx1"/>
                          </a:solidFill>
                        </a:rPr>
                        <a:t>③ 비대칭 교차 어텐션</a:t>
                      </a:r>
                      <a:endParaRPr lang="en-US" sz="145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modules/gated_fusion.py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50" dirty="0">
                          <a:solidFill>
                            <a:schemeClr val="tx1"/>
                          </a:solidFill>
                        </a:rPr>
                        <a:t>④ 게이트 기반 잔차 결합</a:t>
                      </a:r>
                      <a:endParaRPr lang="en-US" sz="145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modules/return_predictor.py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50" dirty="0">
                          <a:solidFill>
                            <a:schemeClr val="tx1"/>
                          </a:solidFill>
                        </a:rPr>
                        <a:t>⑤ 등락률 예측</a:t>
                      </a:r>
                      <a:endParaRPr lang="en-US" sz="145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run_edt_suite2.py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50" dirty="0">
                          <a:solidFill>
                            <a:schemeClr val="tx1"/>
                          </a:solidFill>
                        </a:rPr>
                        <a:t>학습 · 평가</a:t>
                      </a:r>
                      <a:endParaRPr lang="en-US" sz="145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5" name="card-82"/>
          <p:cNvSpPr/>
          <p:nvPr/>
        </p:nvSpPr>
        <p:spPr>
          <a:xfrm>
            <a:off x="7742682" y="17282160"/>
            <a:ext cx="6828282" cy="3644798"/>
          </a:xfrm>
          <a:prstGeom prst="roundRect">
            <a:avLst>
              <a:gd name="adj" fmla="val 4516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86" name="badge-83"/>
          <p:cNvSpPr/>
          <p:nvPr/>
        </p:nvSpPr>
        <p:spPr>
          <a:xfrm>
            <a:off x="8062722" y="17556480"/>
            <a:ext cx="621792" cy="621792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87" name="text-84"/>
          <p:cNvSpPr txBox="1"/>
          <p:nvPr/>
        </p:nvSpPr>
        <p:spPr>
          <a:xfrm>
            <a:off x="8062722" y="17556480"/>
            <a:ext cx="62179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chemeClr val="accent1"/>
                </a:solidFill>
              </a:rPr>
              <a:t>6</a:t>
            </a:r>
            <a:endParaRPr lang="en-US" sz="2600" dirty="0"/>
          </a:p>
        </p:txBody>
      </p:sp>
      <p:sp>
        <p:nvSpPr>
          <p:cNvPr id="88" name="text-85"/>
          <p:cNvSpPr txBox="1"/>
          <p:nvPr/>
        </p:nvSpPr>
        <p:spPr>
          <a:xfrm>
            <a:off x="8839962" y="17556480"/>
            <a:ext cx="545668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accent1"/>
                </a:solidFill>
              </a:rPr>
              <a:t>결론</a:t>
            </a:r>
            <a:endParaRPr lang="en-US" sz="3200" dirty="0"/>
          </a:p>
        </p:txBody>
      </p:sp>
      <p:sp>
        <p:nvSpPr>
          <p:cNvPr id="89" name="text-86"/>
          <p:cNvSpPr txBox="1"/>
          <p:nvPr/>
        </p:nvSpPr>
        <p:spPr>
          <a:xfrm>
            <a:off x="8108442" y="18425160"/>
            <a:ext cx="6096762" cy="222747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lnSpc>
                <a:spcPct val="105000"/>
              </a:lnSpc>
              <a:buSzPct val="100000"/>
              <a:buChar char="•"/>
            </a:pPr>
            <a:r>
              <a:rPr lang="en-US" sz="1900" b="1" dirty="0">
                <a:solidFill>
                  <a:schemeClr val="accent1"/>
                </a:solidFill>
              </a:rPr>
              <a:t>성과  </a:t>
            </a:r>
            <a:pPr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en-US" sz="1900" dirty="0">
                <a:solidFill>
                  <a:schemeClr val="tx1"/>
                </a:solidFill>
              </a:rPr>
              <a:t>감성 점수만으로는 예측력이 없지만(−0.006), 제안 구조는 유의한 예측력(0.060)</a:t>
            </a:r>
            <a:endParaRPr lang="en-US" sz="1900" dirty="0"/>
          </a:p>
          <a:p>
            <a:pPr marL="228600" indent="-228600">
              <a:lnSpc>
                <a:spcPct val="105000"/>
              </a:lnSpc>
              <a:buSzPct val="100000"/>
              <a:buChar char="•"/>
            </a:pPr>
            <a:r>
              <a:rPr lang="en-US" sz="1900" b="1" dirty="0">
                <a:solidFill>
                  <a:schemeClr val="accent1"/>
                </a:solidFill>
              </a:rPr>
              <a:t>한계  </a:t>
            </a:r>
            <a:pPr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en-US" sz="1900" dirty="0">
                <a:solidFill>
                  <a:schemeClr val="tx1"/>
                </a:solidFill>
              </a:rPr>
              <a:t>최근 구간 약화(0.033), 거래비용 반영 시 수익 소멸, 어텐션은 30일에 고르게 분포</a:t>
            </a:r>
            <a:endParaRPr lang="en-US" sz="1900" dirty="0"/>
          </a:p>
          <a:p>
            <a:pPr marL="228600" indent="-228600">
              <a:lnSpc>
                <a:spcPct val="105000"/>
              </a:lnSpc>
              <a:buSzPct val="100000"/>
              <a:buChar char="•"/>
            </a:pPr>
            <a:r>
              <a:rPr lang="en-US" sz="1900" b="1" dirty="0">
                <a:solidFill>
                  <a:schemeClr val="accent1"/>
                </a:solidFill>
              </a:rPr>
              <a:t>향후  </a:t>
            </a:r>
            <a:pPr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en-US" sz="1900" dirty="0">
                <a:solidFill>
                  <a:schemeClr val="tx1"/>
                </a:solidFill>
              </a:rPr>
              <a:t>입력 확장·앙상블로 0.092까지 개선 확인 → 비용을 고려한 전략 검증</a:t>
            </a:r>
            <a:endParaRPr lang="en-US" sz="1900" dirty="0"/>
          </a:p>
        </p:txBody>
      </p:sp>
      <p:sp>
        <p:nvSpPr>
          <p:cNvPr id="90" name="card-87"/>
          <p:cNvSpPr/>
          <p:nvPr/>
        </p:nvSpPr>
        <p:spPr>
          <a:xfrm>
            <a:off x="548640" y="12344400"/>
            <a:ext cx="6828282" cy="8582558"/>
          </a:xfrm>
          <a:prstGeom prst="roundRect">
            <a:avLst>
              <a:gd name="adj" fmla="val 2410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91" name="badge-88"/>
          <p:cNvSpPr/>
          <p:nvPr/>
        </p:nvSpPr>
        <p:spPr>
          <a:xfrm>
            <a:off x="868680" y="12618720"/>
            <a:ext cx="621792" cy="621792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92" name="text-89"/>
          <p:cNvSpPr txBox="1"/>
          <p:nvPr/>
        </p:nvSpPr>
        <p:spPr>
          <a:xfrm>
            <a:off x="868680" y="12618720"/>
            <a:ext cx="62179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chemeClr val="accent1"/>
                </a:solidFill>
              </a:rPr>
              <a:t>5</a:t>
            </a:r>
            <a:endParaRPr lang="en-US" sz="2600" dirty="0"/>
          </a:p>
        </p:txBody>
      </p:sp>
      <p:sp>
        <p:nvSpPr>
          <p:cNvPr id="93" name="text-90"/>
          <p:cNvSpPr txBox="1"/>
          <p:nvPr/>
        </p:nvSpPr>
        <p:spPr>
          <a:xfrm>
            <a:off x="1645920" y="12618720"/>
            <a:ext cx="545668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accent1"/>
                </a:solidFill>
              </a:rPr>
              <a:t>성능평가 결과</a:t>
            </a:r>
            <a:endParaRPr lang="en-US" sz="3200" dirty="0"/>
          </a:p>
        </p:txBody>
      </p:sp>
      <p:sp>
        <p:nvSpPr>
          <p:cNvPr id="94" name="text-91"/>
          <p:cNvSpPr txBox="1"/>
          <p:nvPr/>
        </p:nvSpPr>
        <p:spPr>
          <a:xfrm>
            <a:off x="914400" y="13487400"/>
            <a:ext cx="609676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500" b="1" dirty="0">
                <a:solidFill>
                  <a:schemeClr val="accent1"/>
                </a:solidFill>
              </a:rPr>
              <a:t>데이터  </a:t>
            </a:r>
            <a:pPr indent="0" marL="0">
              <a:lnSpc>
                <a:spcPct val="105000"/>
              </a:lnSpc>
              <a:buNone/>
            </a:pPr>
            <a:r>
              <a:rPr lang="en-US" sz="1500" dirty="0">
                <a:solidFill>
                  <a:schemeClr val="tx1"/>
                </a:solidFill>
              </a:rPr>
              <a:t>EDT 보도자료(2020.03~2021.05), 표본 외 32,926건</a:t>
            </a:r>
            <a:endParaRPr lang="en-US" sz="15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500" b="1" dirty="0">
                <a:solidFill>
                  <a:schemeClr val="accent1"/>
                </a:solidFill>
              </a:rPr>
              <a:t>지표  </a:t>
            </a:r>
            <a:pPr indent="0" marL="0">
              <a:lnSpc>
                <a:spcPct val="105000"/>
              </a:lnSpc>
              <a:buNone/>
            </a:pPr>
            <a:r>
              <a:rPr lang="en-US" sz="1500" dirty="0">
                <a:solidFill>
                  <a:schemeClr val="tx1"/>
                </a:solidFill>
              </a:rPr>
              <a:t>순위 IC = 예측 순위와 실제 1일 초과수익률 순위의 상관</a:t>
            </a:r>
            <a:endParaRPr lang="en-US" sz="1500" dirty="0"/>
          </a:p>
        </p:txBody>
      </p:sp>
      <p:sp>
        <p:nvSpPr>
          <p:cNvPr id="95" name="stat-92"/>
          <p:cNvSpPr/>
          <p:nvPr/>
        </p:nvSpPr>
        <p:spPr>
          <a:xfrm>
            <a:off x="914400" y="14310360"/>
            <a:ext cx="1910334" cy="1645920"/>
          </a:xfrm>
          <a:prstGeom prst="roundRect">
            <a:avLst>
              <a:gd name="adj" fmla="val 555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6" name="text-93"/>
          <p:cNvSpPr txBox="1"/>
          <p:nvPr/>
        </p:nvSpPr>
        <p:spPr>
          <a:xfrm>
            <a:off x="914400" y="14420088"/>
            <a:ext cx="191033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chemeClr val="accent1"/>
                </a:solidFill>
              </a:rPr>
              <a:t>0.060</a:t>
            </a:r>
            <a:endParaRPr lang="en-US" sz="3400" dirty="0"/>
          </a:p>
        </p:txBody>
      </p:sp>
      <p:sp>
        <p:nvSpPr>
          <p:cNvPr id="97" name="text-94"/>
          <p:cNvSpPr txBox="1"/>
          <p:nvPr/>
        </p:nvSpPr>
        <p:spPr>
          <a:xfrm>
            <a:off x="987552" y="15151608"/>
            <a:ext cx="176403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논문 구조 순위 IC</a:t>
            </a:r>
            <a:endParaRPr lang="en-US" sz="1350" dirty="0"/>
          </a:p>
          <a:p>
            <a:pPr algn="ctr"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95% CI 0.046~0.073</a:t>
            </a:r>
            <a:endParaRPr lang="en-US" sz="1350" dirty="0"/>
          </a:p>
        </p:txBody>
      </p:sp>
      <p:sp>
        <p:nvSpPr>
          <p:cNvPr id="98" name="stat-95"/>
          <p:cNvSpPr/>
          <p:nvPr/>
        </p:nvSpPr>
        <p:spPr>
          <a:xfrm>
            <a:off x="3007614" y="14310360"/>
            <a:ext cx="1910334" cy="1645920"/>
          </a:xfrm>
          <a:prstGeom prst="roundRect">
            <a:avLst>
              <a:gd name="adj" fmla="val 555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9" name="text-96"/>
          <p:cNvSpPr txBox="1"/>
          <p:nvPr/>
        </p:nvSpPr>
        <p:spPr>
          <a:xfrm>
            <a:off x="3007614" y="14420088"/>
            <a:ext cx="191033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chemeClr val="accent1"/>
                </a:solidFill>
              </a:rPr>
              <a:t>3 / 3</a:t>
            </a:r>
            <a:endParaRPr lang="en-US" sz="3400" dirty="0"/>
          </a:p>
        </p:txBody>
      </p:sp>
      <p:sp>
        <p:nvSpPr>
          <p:cNvPr id="100" name="text-97"/>
          <p:cNvSpPr txBox="1"/>
          <p:nvPr/>
        </p:nvSpPr>
        <p:spPr>
          <a:xfrm>
            <a:off x="3080766" y="15151608"/>
            <a:ext cx="176403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평가 구간 모두</a:t>
            </a:r>
            <a:endParaRPr lang="en-US" sz="1350" dirty="0"/>
          </a:p>
          <a:p>
            <a:pPr algn="ctr"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양(+)의 예측력</a:t>
            </a:r>
            <a:endParaRPr lang="en-US" sz="1350" dirty="0"/>
          </a:p>
        </p:txBody>
      </p:sp>
      <p:sp>
        <p:nvSpPr>
          <p:cNvPr id="101" name="stat-98"/>
          <p:cNvSpPr/>
          <p:nvPr/>
        </p:nvSpPr>
        <p:spPr>
          <a:xfrm>
            <a:off x="5100828" y="14310360"/>
            <a:ext cx="1910334" cy="1645920"/>
          </a:xfrm>
          <a:prstGeom prst="roundRect">
            <a:avLst>
              <a:gd name="adj" fmla="val 555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2" name="text-99"/>
          <p:cNvSpPr txBox="1"/>
          <p:nvPr/>
        </p:nvSpPr>
        <p:spPr>
          <a:xfrm>
            <a:off x="5100828" y="14420088"/>
            <a:ext cx="191033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chemeClr val="accent6"/>
                </a:solidFill>
              </a:rPr>
              <a:t>−0.006</a:t>
            </a:r>
            <a:endParaRPr lang="en-US" sz="3400" dirty="0"/>
          </a:p>
        </p:txBody>
      </p:sp>
      <p:sp>
        <p:nvSpPr>
          <p:cNvPr id="103" name="text-100"/>
          <p:cNvSpPr txBox="1"/>
          <p:nvPr/>
        </p:nvSpPr>
        <p:spPr>
          <a:xfrm>
            <a:off x="5173980" y="15151608"/>
            <a:ext cx="176403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감성 점수만 사용</a:t>
            </a:r>
            <a:endParaRPr lang="en-US" sz="1350" dirty="0"/>
          </a:p>
          <a:p>
            <a:pPr algn="ctr"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(예측력 없음)</a:t>
            </a:r>
            <a:endParaRPr lang="en-US" sz="1350" dirty="0"/>
          </a:p>
        </p:txBody>
      </p:sp>
      <p:graphicFrame>
        <p:nvGraphicFramePr>
          <p:cNvPr id="104" name="chart-ic" descr=""/>
          <p:cNvGraphicFramePr/>
          <p:nvPr/>
        </p:nvGraphicFramePr>
        <p:xfrm>
          <a:off x="914400" y="16139160"/>
          <a:ext cx="6096762" cy="2377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105" name="chart-window" descr=""/>
          <p:cNvGraphicFramePr/>
          <p:nvPr/>
        </p:nvGraphicFramePr>
        <p:xfrm>
          <a:off x="914400" y="18653760"/>
          <a:ext cx="6096762" cy="2044598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News Event Poster">
  <a:themeElements>
    <a:clrScheme name="News Event Poster">
      <a:dk1>
        <a:srgbClr val="1F2633"/>
      </a:dk1>
      <a:lt1>
        <a:srgbClr val="FFFFFF"/>
      </a:lt1>
      <a:dk2>
        <a:srgbClr val="14233F"/>
      </a:dk2>
      <a:lt2>
        <a:srgbClr val="EDF2F8"/>
      </a:lt2>
      <a:accent1>
        <a:srgbClr val="14233F"/>
      </a:accent1>
      <a:accent2>
        <a:srgbClr val="E3A12F"/>
      </a:accent2>
      <a:accent3>
        <a:srgbClr val="1F7A8C"/>
      </a:accent3>
      <a:accent4>
        <a:srgbClr val="C0392B"/>
      </a:accent4>
      <a:accent5>
        <a:srgbClr val="2E8B57"/>
      </a:accent5>
      <a:accent6>
        <a:srgbClr val="6B7686"/>
      </a:accent6>
      <a:hlink>
        <a:srgbClr val="1F7A8C"/>
      </a:hlink>
      <a:folHlink>
        <a:srgbClr val="6B7686"/>
      </a:folHlink>
    </a:clrScheme>
    <a:fontScheme name="News Event Poster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뉴스 이벤트 기반 주식 가격 예측 모델</dc:title>
  <dc:subject>PptxGenJS Presentation</dc:subject>
  <dc:creator>김상민, 성우제</dc:creator>
  <cp:lastModifiedBy>김상민, 성우제</cp:lastModifiedBy>
  <cp:revision>1</cp:revision>
  <dcterms:created xsi:type="dcterms:W3CDTF">2026-10-13T11:44:43Z</dcterms:created>
  <dcterms:modified xsi:type="dcterms:W3CDTF">2026-10-13T11:44:43Z</dcterms:modified>
</cp:coreProperties>
</file>