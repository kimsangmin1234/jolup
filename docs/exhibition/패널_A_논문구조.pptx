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21383625"/>
  <p:notesSz cx="21383625" cy="151193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패널" id="{DFA80CF7-3160-4EDB-3EA7-4686A519452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38" y="-5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4233F"/>
                </a:solidFill>
                <a:latin typeface="+mn-lt"/>
              </a:defRPr>
            </a:pPr>
            <a:r>
              <a:rPr lang="ko-KR" altLang="en-US" sz="1700" b="0" i="0" u="none" strike="noStrike">
                <a:solidFill>
                  <a:srgbClr val="14233F"/>
                </a:solidFill>
                <a:latin typeface="+mn-lt"/>
              </a:rPr>
              <a:t>모델별 순위 IC (높을수록 정확)</a:t>
            </a:r>
            <a:r>
              <a:rPr lang="en-US" altLang="ko-KR" sz="1700" b="0" i="0" u="none" strike="noStrike">
                <a:solidFill>
                  <a:srgbClr val="14233F"/>
                </a:solidFill>
                <a:latin typeface="+mn-lt"/>
              </a:rPr>
              <a:t/>
            </a:r>
            <a:r>
              <a:rPr lang="ko-KR" altLang="en-US" sz="1700" b="0" i="0" u="none" strike="noStrike">
                <a:solidFill>
                  <a:srgbClr val="14233F"/>
                </a:solidFill>
                <a:latin typeface="+mn-lt"/>
              </a:rPr>
              <a:t/>
            </a:r>
            <a:r>
              <a:rPr lang="en-US" altLang="ko-KR" sz="1700" b="0" i="0" u="none" strike="noStrike">
                <a:solidFill>
                  <a:srgbClr val="14233F"/>
                </a:solidFill>
                <a:latin typeface="+mn-lt"/>
              </a:rPr>
              <a:t/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순위 IC</c:v>
                </c:pt>
              </c:strCache>
            </c:strRef>
          </c:tx>
          <c:spPr>
            <a:solidFill>
              <a:srgbClr val="6B76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7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17-44ED-8E7C-C02718DE7F71}"/>
              </c:ext>
            </c:extLst>
          </c:dPt>
          <c:dPt>
            <c:idx val="1"/>
            <c:invertIfNegative val="0"/>
            <c:bubble3D val="0"/>
            <c:spPr>
              <a:solidFill>
                <a:srgbClr val="6B7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17-44ED-8E7C-C02718DE7F71}"/>
              </c:ext>
            </c:extLst>
          </c:dPt>
          <c:dPt>
            <c:idx val="2"/>
            <c:invertIfNegative val="0"/>
            <c:bubble3D val="0"/>
            <c:spPr>
              <a:solidFill>
                <a:srgbClr val="E3A12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17-44ED-8E7C-C02718DE7F71}"/>
              </c:ext>
            </c:extLst>
          </c:dPt>
          <c:dPt>
            <c:idx val="3"/>
            <c:invertIfNegative val="0"/>
            <c:bubble3D val="0"/>
            <c:spPr>
              <a:solidFill>
                <a:srgbClr val="9AA6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17-44ED-8E7C-C02718DE7F7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감성 점수만</c:v>
                </c:pt>
                <c:pt idx="1">
                  <c:v>LLM 호재·악재 판단</c:v>
                </c:pt>
                <c:pt idx="2">
                  <c:v>논문 구조 (P0)</c:v>
                </c:pt>
                <c:pt idx="3">
                  <c:v>추가 개선 실험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-6.0000000000000001E-3</c:v>
                </c:pt>
                <c:pt idx="1">
                  <c:v>0</c:v>
                </c:pt>
                <c:pt idx="2">
                  <c:v>0.06</c:v>
                </c:pt>
                <c:pt idx="3">
                  <c:v>9.1999999999999998E-2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17-44ED-8E7C-C02718DE7F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6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"/>
          <c:min val="-0.04"/>
        </c:scaling>
        <c:delete val="0"/>
        <c:axPos val="b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14233F"/>
                </a:solidFill>
                <a:latin typeface="+mn-lt"/>
              </a:defRPr>
            </a:pPr>
            <a:r>
              <a:rPr lang="ko-KR" altLang="en-US" sz="1700" b="0" i="0" u="none" strike="noStrike">
                <a:solidFill>
                  <a:srgbClr val="14233F"/>
                </a:solidFill>
                <a:latin typeface="+mn-lt"/>
              </a:rPr>
              <a:t>평가 기간별 순위 IC (모두 0보다 큼)</a:t>
            </a:r>
            <a:r>
              <a:rPr lang="en-US" altLang="ko-KR" sz="1700" b="0" i="0" u="none" strike="noStrike">
                <a:solidFill>
                  <a:srgbClr val="14233F"/>
                </a:solidFill>
                <a:latin typeface="+mn-lt"/>
              </a:rPr>
              <a:t/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논문 구조 (P0)</c:v>
                </c:pt>
              </c:strCache>
            </c:strRef>
          </c:tx>
          <c:spPr>
            <a:solidFill>
              <a:srgbClr val="E3A12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20.11~12</c:v>
                </c:pt>
                <c:pt idx="1">
                  <c:v>21.01~02</c:v>
                </c:pt>
                <c:pt idx="2">
                  <c:v>21.03~05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7.9000000000000001E-2</c:v>
                </c:pt>
                <c:pt idx="1">
                  <c:v>6.7000000000000004E-2</c:v>
                </c:pt>
                <c:pt idx="2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5C-4B90-A36D-FA963F58C6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6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2"/>
          <c:min val="0"/>
        </c:scaling>
        <c:delete val="0"/>
        <c:axPos val="l"/>
        <c:majorGridlines>
          <c:spPr>
            <a:ln w="9525" cap="flat">
              <a:solidFill>
                <a:srgbClr val="D9DE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36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버전 A: 논문 구조 그대로(P0) 중심. 수치는 EDT 3개 평가 구간 32,926건, 날짜 블록 부트스트랩 95% 신뢰구간. 추가 개선 실험(0.092)은 입력 확장·앙상블 결과. 참고: Ridge 선형 기준선은 0.071.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E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502920"/>
            <a:ext cx="140223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 err="1">
                <a:solidFill>
                  <a:schemeClr val="bg1"/>
                </a:solidFill>
              </a:rPr>
              <a:t>뉴스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이벤트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기반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주식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가격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예측</a:t>
            </a:r>
            <a:r>
              <a:rPr lang="en-US" sz="6400" b="1" dirty="0">
                <a:solidFill>
                  <a:schemeClr val="bg1"/>
                </a:solidFill>
              </a:rPr>
              <a:t> </a:t>
            </a:r>
            <a:r>
              <a:rPr lang="en-US" sz="6400" b="1" dirty="0" err="1">
                <a:solidFill>
                  <a:schemeClr val="bg1"/>
                </a:solidFill>
              </a:rPr>
              <a:t>모델</a:t>
            </a:r>
            <a:endParaRPr lang="en-US" sz="6400" dirty="0"/>
          </a:p>
        </p:txBody>
      </p:sp>
      <p:sp>
        <p:nvSpPr>
          <p:cNvPr id="3" name="text-2"/>
          <p:cNvSpPr txBox="1"/>
          <p:nvPr/>
        </p:nvSpPr>
        <p:spPr>
          <a:xfrm>
            <a:off x="548640" y="1572768"/>
            <a:ext cx="14022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D3E3"/>
                </a:solidFill>
              </a:rPr>
              <a:t>Stock Price Prediction Model Based on News Events</a:t>
            </a:r>
            <a:endParaRPr lang="en-US" sz="2600" dirty="0"/>
          </a:p>
        </p:txBody>
      </p:sp>
      <p:sp>
        <p:nvSpPr>
          <p:cNvPr id="4" name="text-3"/>
          <p:cNvSpPr txBox="1"/>
          <p:nvPr/>
        </p:nvSpPr>
        <p:spPr>
          <a:xfrm>
            <a:off x="548640" y="2130552"/>
            <a:ext cx="14022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chemeClr val="bg1"/>
                </a:solidFill>
              </a:rPr>
              <a:t>충북대학교 정보통신공학부</a:t>
            </a:r>
            <a:r>
              <a:rPr lang="en-US" sz="2500" b="1" dirty="0">
                <a:solidFill>
                  <a:schemeClr val="accent2"/>
                </a:solidFill>
              </a:rPr>
              <a:t>     지도교수  </a:t>
            </a:r>
            <a:r>
              <a:rPr lang="en-US" sz="2500" dirty="0">
                <a:solidFill>
                  <a:schemeClr val="bg1"/>
                </a:solidFill>
              </a:rPr>
              <a:t>유재수 교수님</a:t>
            </a:r>
            <a:r>
              <a:rPr lang="en-US" sz="2500" b="1" dirty="0">
                <a:solidFill>
                  <a:schemeClr val="accent2"/>
                </a:solidFill>
              </a:rPr>
              <a:t>     </a:t>
            </a:r>
            <a:r>
              <a:rPr lang="en-US" sz="2500" b="1" dirty="0" err="1">
                <a:solidFill>
                  <a:schemeClr val="accent2"/>
                </a:solidFill>
              </a:rPr>
              <a:t>참여학생</a:t>
            </a:r>
            <a:r>
              <a:rPr lang="en-US" sz="2500" b="1" dirty="0">
                <a:solidFill>
                  <a:schemeClr val="accent2"/>
                </a:solidFill>
              </a:rPr>
              <a:t>  </a:t>
            </a:r>
            <a:r>
              <a:rPr lang="en-US" sz="2500" dirty="0">
                <a:solidFill>
                  <a:schemeClr val="bg1"/>
                </a:solidFill>
              </a:rPr>
              <a:t>김상민</a:t>
            </a:r>
            <a:endParaRPr lang="en-US" sz="2500" dirty="0"/>
          </a:p>
        </p:txBody>
      </p:sp>
      <p:sp>
        <p:nvSpPr>
          <p:cNvPr id="5" name="card-4"/>
          <p:cNvSpPr/>
          <p:nvPr/>
        </p:nvSpPr>
        <p:spPr>
          <a:xfrm>
            <a:off x="548640" y="2926080"/>
            <a:ext cx="6828282" cy="4343400"/>
          </a:xfrm>
          <a:prstGeom prst="roundRect">
            <a:avLst>
              <a:gd name="adj" fmla="val 37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badge-5"/>
          <p:cNvSpPr/>
          <p:nvPr/>
        </p:nvSpPr>
        <p:spPr>
          <a:xfrm>
            <a:off x="868680" y="320040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6"/>
          <p:cNvSpPr txBox="1"/>
          <p:nvPr/>
        </p:nvSpPr>
        <p:spPr>
          <a:xfrm>
            <a:off x="868680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-7"/>
          <p:cNvSpPr txBox="1"/>
          <p:nvPr/>
        </p:nvSpPr>
        <p:spPr>
          <a:xfrm>
            <a:off x="1645920" y="320040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연구 내용</a:t>
            </a:r>
            <a:endParaRPr lang="en-US" sz="3200" dirty="0"/>
          </a:p>
        </p:txBody>
      </p:sp>
      <p:sp>
        <p:nvSpPr>
          <p:cNvPr id="9" name="text-8"/>
          <p:cNvSpPr txBox="1"/>
          <p:nvPr/>
        </p:nvSpPr>
        <p:spPr>
          <a:xfrm>
            <a:off x="914400" y="4069080"/>
            <a:ext cx="609676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 err="1">
                <a:solidFill>
                  <a:schemeClr val="accent1"/>
                </a:solidFill>
              </a:rPr>
              <a:t>필요성</a:t>
            </a:r>
            <a:r>
              <a:rPr lang="en-US" sz="1900" b="1" dirty="0">
                <a:solidFill>
                  <a:schemeClr val="accent1"/>
                </a:solidFill>
              </a:rPr>
              <a:t>  </a:t>
            </a:r>
            <a:r>
              <a:rPr lang="en-US" sz="1900" dirty="0" err="1">
                <a:solidFill>
                  <a:schemeClr val="tx1"/>
                </a:solidFill>
              </a:rPr>
              <a:t>단기</a:t>
            </a:r>
            <a:r>
              <a:rPr lang="en-US" sz="1900" dirty="0">
                <a:solidFill>
                  <a:schemeClr val="tx1"/>
                </a:solidFill>
              </a:rPr>
              <a:t> 주가는 기술적 지표만으로 </a:t>
            </a:r>
            <a:r>
              <a:rPr lang="en-US" sz="1900" dirty="0" err="1">
                <a:solidFill>
                  <a:schemeClr val="tx1"/>
                </a:solidFill>
              </a:rPr>
              <a:t>설명하기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어려운</a:t>
            </a:r>
            <a:r>
              <a:rPr lang="en-US" sz="1900" dirty="0">
                <a:solidFill>
                  <a:schemeClr val="tx1"/>
                </a:solidFill>
              </a:rPr>
              <a:t> 뉴스 이벤트에 크게 반응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 err="1">
                <a:solidFill>
                  <a:schemeClr val="accent1"/>
                </a:solidFill>
              </a:rPr>
              <a:t>기존</a:t>
            </a:r>
            <a:r>
              <a:rPr lang="en-US" sz="1900" b="1" dirty="0">
                <a:solidFill>
                  <a:schemeClr val="accent1"/>
                </a:solidFill>
              </a:rPr>
              <a:t> </a:t>
            </a:r>
            <a:r>
              <a:rPr lang="en-US" sz="1900" b="1" dirty="0" err="1">
                <a:solidFill>
                  <a:schemeClr val="accent1"/>
                </a:solidFill>
              </a:rPr>
              <a:t>연구</a:t>
            </a:r>
            <a:r>
              <a:rPr lang="en-US" sz="1900" b="1" dirty="0">
                <a:solidFill>
                  <a:schemeClr val="accent1"/>
                </a:solidFill>
              </a:rPr>
              <a:t>  </a:t>
            </a:r>
            <a:r>
              <a:rPr lang="en-US" sz="1900" dirty="0">
                <a:solidFill>
                  <a:schemeClr val="tx1"/>
                </a:solidFill>
              </a:rPr>
              <a:t>LLM 감성 점수 또는 텍스트 임베딩 중 </a:t>
            </a:r>
            <a:r>
              <a:rPr lang="en-US" sz="1900" dirty="0" err="1">
                <a:solidFill>
                  <a:schemeClr val="tx1"/>
                </a:solidFill>
              </a:rPr>
              <a:t>하나만</a:t>
            </a:r>
            <a:r>
              <a:rPr lang="en-US" sz="1900" dirty="0">
                <a:solidFill>
                  <a:schemeClr val="tx1"/>
                </a:solidFill>
              </a:rPr>
              <a:t> 사용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 err="1">
                <a:solidFill>
                  <a:schemeClr val="accent1"/>
                </a:solidFill>
              </a:rPr>
              <a:t>연구</a:t>
            </a:r>
            <a:r>
              <a:rPr lang="en-US" sz="1900" b="1" dirty="0">
                <a:solidFill>
                  <a:schemeClr val="accent1"/>
                </a:solidFill>
              </a:rPr>
              <a:t> </a:t>
            </a:r>
            <a:r>
              <a:rPr lang="en-US" sz="1900" b="1" dirty="0" err="1">
                <a:solidFill>
                  <a:schemeClr val="accent1"/>
                </a:solidFill>
              </a:rPr>
              <a:t>내용</a:t>
            </a:r>
            <a:r>
              <a:rPr lang="en-US" sz="1900" b="1" dirty="0">
                <a:solidFill>
                  <a:schemeClr val="accent1"/>
                </a:solidFill>
              </a:rPr>
              <a:t>  </a:t>
            </a:r>
            <a:r>
              <a:rPr lang="en-US" sz="1900" dirty="0">
                <a:solidFill>
                  <a:schemeClr val="tx1"/>
                </a:solidFill>
              </a:rPr>
              <a:t>뉴스의 의미·감성(주 신호)과 과거 30일 </a:t>
            </a:r>
            <a:r>
              <a:rPr lang="en-US" sz="1900" dirty="0" err="1">
                <a:solidFill>
                  <a:schemeClr val="tx1"/>
                </a:solidFill>
              </a:rPr>
              <a:t>시장</a:t>
            </a:r>
            <a:r>
              <a:rPr lang="en-US" sz="1900" dirty="0">
                <a:solidFill>
                  <a:schemeClr val="tx1"/>
                </a:solidFill>
              </a:rPr>
              <a:t> 상태(보조 신호)를 결합해 뉴스 발표 후 1일 초과수익률 예측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검증  </a:t>
            </a:r>
            <a:r>
              <a:rPr lang="en-US" sz="1900" dirty="0">
                <a:solidFill>
                  <a:schemeClr val="tx1"/>
                </a:solidFill>
              </a:rPr>
              <a:t>실제 기업 보도자료 6.3만 건, </a:t>
            </a:r>
            <a:r>
              <a:rPr lang="en-US" sz="1900" dirty="0" err="1">
                <a:solidFill>
                  <a:schemeClr val="tx1"/>
                </a:solidFill>
              </a:rPr>
              <a:t>미래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정보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누수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없는</a:t>
            </a:r>
            <a:r>
              <a:rPr lang="en-US" sz="1900" dirty="0">
                <a:solidFill>
                  <a:schemeClr val="tx1"/>
                </a:solidFill>
              </a:rPr>
              <a:t> </a:t>
            </a:r>
            <a:r>
              <a:rPr lang="en-US" sz="1900" dirty="0" err="1">
                <a:solidFill>
                  <a:schemeClr val="tx1"/>
                </a:solidFill>
              </a:rPr>
              <a:t>표본</a:t>
            </a:r>
            <a:r>
              <a:rPr lang="en-US" sz="1900" dirty="0">
                <a:solidFill>
                  <a:schemeClr val="tx1"/>
                </a:solidFill>
              </a:rPr>
              <a:t> 외 </a:t>
            </a:r>
            <a:r>
              <a:rPr lang="en-US" sz="1900" dirty="0" err="1">
                <a:solidFill>
                  <a:schemeClr val="tx1"/>
                </a:solidFill>
              </a:rPr>
              <a:t>평가</a:t>
            </a:r>
            <a:endParaRPr lang="en-US" sz="1900" dirty="0"/>
          </a:p>
        </p:txBody>
      </p:sp>
      <p:sp>
        <p:nvSpPr>
          <p:cNvPr id="10" name="card-9"/>
          <p:cNvSpPr/>
          <p:nvPr/>
        </p:nvSpPr>
        <p:spPr>
          <a:xfrm>
            <a:off x="548640" y="7543800"/>
            <a:ext cx="6828282" cy="4861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badge-10"/>
          <p:cNvSpPr/>
          <p:nvPr/>
        </p:nvSpPr>
        <p:spPr>
          <a:xfrm>
            <a:off x="868680" y="781812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11"/>
          <p:cNvSpPr txBox="1"/>
          <p:nvPr/>
        </p:nvSpPr>
        <p:spPr>
          <a:xfrm>
            <a:off x="868680" y="78181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-12"/>
          <p:cNvSpPr txBox="1"/>
          <p:nvPr/>
        </p:nvSpPr>
        <p:spPr>
          <a:xfrm>
            <a:off x="1645920" y="781812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원리</a:t>
            </a:r>
            <a:endParaRPr lang="en-US" sz="3200" dirty="0"/>
          </a:p>
        </p:txBody>
      </p:sp>
      <p:sp>
        <p:nvSpPr>
          <p:cNvPr id="14" name="text-13"/>
          <p:cNvSpPr txBox="1"/>
          <p:nvPr/>
        </p:nvSpPr>
        <p:spPr>
          <a:xfrm>
            <a:off x="914400" y="8686800"/>
            <a:ext cx="609676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① LLM 기반 주 </a:t>
            </a:r>
            <a:r>
              <a:rPr lang="en-US" sz="1800" b="1" dirty="0" err="1">
                <a:solidFill>
                  <a:schemeClr val="accent1"/>
                </a:solidFill>
              </a:rPr>
              <a:t>신호</a:t>
            </a:r>
            <a:r>
              <a:rPr lang="en-US" sz="1800" b="1" dirty="0">
                <a:solidFill>
                  <a:schemeClr val="accent1"/>
                </a:solidFill>
              </a:rPr>
              <a:t>  </a:t>
            </a:r>
            <a:r>
              <a:rPr lang="ko-KR" altLang="en-US" sz="1800" dirty="0">
                <a:solidFill>
                  <a:schemeClr val="accent1"/>
                </a:solidFill>
              </a:rPr>
              <a:t>뉴스 이벤트를 </a:t>
            </a:r>
            <a:r>
              <a:rPr lang="en-US" sz="1800" dirty="0">
                <a:solidFill>
                  <a:schemeClr val="tx1"/>
                </a:solidFill>
              </a:rPr>
              <a:t>GPT-4o-mini</a:t>
            </a:r>
            <a:r>
              <a:rPr lang="ko-KR" altLang="en-US" sz="1800" dirty="0">
                <a:solidFill>
                  <a:schemeClr val="tx1"/>
                </a:solidFill>
              </a:rPr>
              <a:t>로</a:t>
            </a:r>
            <a:r>
              <a:rPr lang="en-US" sz="1800" dirty="0">
                <a:solidFill>
                  <a:schemeClr val="tx1"/>
                </a:solidFill>
              </a:rPr>
              <a:t> 요약·감성 점수 + 요약문 임베딩(1536차원) → 완전연결층 → 512차원</a:t>
            </a:r>
            <a:endParaRPr lang="en-US" sz="18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② TCN 기반 보조 벡터  </a:t>
            </a:r>
            <a:r>
              <a:rPr lang="en-US" sz="1800" dirty="0">
                <a:solidFill>
                  <a:schemeClr val="tx1"/>
                </a:solidFill>
              </a:rPr>
              <a:t>기술적 지표 9종 × 30일 → TCN(</a:t>
            </a:r>
            <a:r>
              <a:rPr lang="ko-KR" altLang="en-US" dirty="0"/>
              <a:t>과거 정보만 사용</a:t>
            </a:r>
            <a:r>
              <a:rPr lang="en-US" altLang="ko-KR" dirty="0"/>
              <a:t>)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ko-KR" altLang="en-US" dirty="0"/>
              <a:t>하루마다 </a:t>
            </a:r>
            <a:r>
              <a:rPr lang="en-US" sz="1800" dirty="0">
                <a:solidFill>
                  <a:schemeClr val="tx1"/>
                </a:solidFill>
              </a:rPr>
              <a:t>512차원 </a:t>
            </a:r>
            <a:r>
              <a:rPr lang="ko-KR" altLang="en-US" sz="1800" dirty="0">
                <a:solidFill>
                  <a:schemeClr val="tx1"/>
                </a:solidFill>
              </a:rPr>
              <a:t>벡터 생성</a:t>
            </a:r>
            <a:endParaRPr lang="en-US" sz="1800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③ </a:t>
            </a:r>
            <a:r>
              <a:rPr lang="en-US" sz="1800" b="1" dirty="0" err="1">
                <a:solidFill>
                  <a:schemeClr val="accent1"/>
                </a:solidFill>
              </a:rPr>
              <a:t>교차</a:t>
            </a:r>
            <a:r>
              <a:rPr lang="en-US" sz="1800" b="1" dirty="0">
                <a:solidFill>
                  <a:schemeClr val="accent1"/>
                </a:solidFill>
              </a:rPr>
              <a:t> </a:t>
            </a:r>
            <a:r>
              <a:rPr lang="en-US" sz="1800" b="1" dirty="0" err="1">
                <a:solidFill>
                  <a:schemeClr val="accent1"/>
                </a:solidFill>
              </a:rPr>
              <a:t>어텐션</a:t>
            </a:r>
            <a:r>
              <a:rPr lang="en-US" sz="1800" b="1" dirty="0">
                <a:solidFill>
                  <a:schemeClr val="accent1"/>
                </a:solidFill>
              </a:rPr>
              <a:t>  </a:t>
            </a:r>
            <a:r>
              <a:rPr lang="ko-KR" altLang="ko-KR" dirty="0"/>
              <a:t>뉴스 벡터(</a:t>
            </a:r>
            <a:r>
              <a:rPr lang="ko-KR" altLang="ko-KR" dirty="0" err="1"/>
              <a:t>Q</a:t>
            </a:r>
            <a:r>
              <a:rPr lang="ko-KR" altLang="ko-KR" dirty="0"/>
              <a:t>)와 30일 각 지표 벡터(K)의 관련도를 내적으로 계산 → </a:t>
            </a:r>
            <a:r>
              <a:rPr lang="ko-KR" altLang="ko-KR" dirty="0" err="1"/>
              <a:t>softmax</a:t>
            </a:r>
            <a:r>
              <a:rPr lang="ko-KR" altLang="ko-KR" dirty="0"/>
              <a:t> 가중치(합 1) → 지표 벡터(</a:t>
            </a:r>
            <a:r>
              <a:rPr lang="ko-KR" altLang="ko-KR" dirty="0" err="1"/>
              <a:t>V</a:t>
            </a:r>
            <a:r>
              <a:rPr lang="ko-KR" altLang="ko-KR" dirty="0"/>
              <a:t>)를 가중 평균해 뉴스와 관련 깊은 날을 더 반영.</a:t>
            </a:r>
            <a:endParaRPr lang="en-US" altLang="ko-KR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④</a:t>
            </a:r>
            <a:r>
              <a:rPr lang="ko-KR" altLang="en-US" sz="1800" b="1" dirty="0">
                <a:solidFill>
                  <a:schemeClr val="accent1"/>
                </a:solidFill>
              </a:rPr>
              <a:t>게이트 기반 </a:t>
            </a:r>
            <a:r>
              <a:rPr lang="ko-KR" altLang="en-US" sz="1800" b="1" dirty="0" err="1">
                <a:solidFill>
                  <a:schemeClr val="accent1"/>
                </a:solidFill>
              </a:rPr>
              <a:t>잔차</a:t>
            </a:r>
            <a:r>
              <a:rPr lang="ko-KR" altLang="en-US" sz="1800" b="1" dirty="0">
                <a:solidFill>
                  <a:schemeClr val="accent1"/>
                </a:solidFill>
              </a:rPr>
              <a:t> 결합 </a:t>
            </a:r>
            <a:r>
              <a:rPr lang="ko-KR" altLang="ko-KR" dirty="0"/>
              <a:t>뉴스 정보는 그대로 두고, 시장 정보는 게이트(0~1)로 필요한 만큼만 더함. 게이트 값은 학습된 계산식이 뉴스마다 계산</a:t>
            </a:r>
            <a:endParaRPr lang="en-US" altLang="ko-KR" dirty="0"/>
          </a:p>
          <a:p>
            <a:pPr marL="228600" indent="-228600">
              <a:lnSpc>
                <a:spcPct val="100000"/>
              </a:lnSpc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⑤ 등락률 예측  </a:t>
            </a:r>
            <a:r>
              <a:rPr lang="en-US" sz="1800" dirty="0">
                <a:solidFill>
                  <a:schemeClr val="tx1"/>
                </a:solidFill>
              </a:rPr>
              <a:t>MLP 512 → 256 → 64 → 1</a:t>
            </a:r>
            <a:endParaRPr lang="en-US" sz="1800" dirty="0"/>
          </a:p>
        </p:txBody>
      </p:sp>
      <p:sp>
        <p:nvSpPr>
          <p:cNvPr id="15" name="card-14"/>
          <p:cNvSpPr/>
          <p:nvPr/>
        </p:nvSpPr>
        <p:spPr>
          <a:xfrm>
            <a:off x="7742682" y="2926080"/>
            <a:ext cx="6828282" cy="947928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badge-15"/>
          <p:cNvSpPr/>
          <p:nvPr/>
        </p:nvSpPr>
        <p:spPr>
          <a:xfrm>
            <a:off x="8062722" y="320040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-16"/>
          <p:cNvSpPr txBox="1"/>
          <p:nvPr/>
        </p:nvSpPr>
        <p:spPr>
          <a:xfrm>
            <a:off x="8062722" y="3200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</a:t>
            </a:r>
            <a:endParaRPr lang="en-US" sz="2600" dirty="0"/>
          </a:p>
        </p:txBody>
      </p:sp>
      <p:sp>
        <p:nvSpPr>
          <p:cNvPr id="18" name="text-17"/>
          <p:cNvSpPr txBox="1"/>
          <p:nvPr/>
        </p:nvSpPr>
        <p:spPr>
          <a:xfrm>
            <a:off x="8839962" y="320040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구조</a:t>
            </a:r>
            <a:endParaRPr lang="en-US" sz="3200" dirty="0"/>
          </a:p>
        </p:txBody>
      </p:sp>
      <p:sp>
        <p:nvSpPr>
          <p:cNvPr id="19" name="group-18"/>
          <p:cNvSpPr/>
          <p:nvPr/>
        </p:nvSpPr>
        <p:spPr>
          <a:xfrm>
            <a:off x="8291345" y="4682309"/>
            <a:ext cx="3353219" cy="2698206"/>
          </a:xfrm>
          <a:prstGeom prst="roundRect">
            <a:avLst>
              <a:gd name="adj" fmla="val 2711"/>
            </a:avLst>
          </a:prstGeom>
          <a:solidFill>
            <a:srgbClr val="EAF1FA"/>
          </a:solidFill>
          <a:ln w="19050">
            <a:solidFill>
              <a:srgbClr val="14233F"/>
            </a:solidFill>
            <a:prstDash val="solid"/>
          </a:ln>
        </p:spPr>
      </p:sp>
      <p:sp>
        <p:nvSpPr>
          <p:cNvPr id="20" name="group-19"/>
          <p:cNvSpPr/>
          <p:nvPr/>
        </p:nvSpPr>
        <p:spPr>
          <a:xfrm>
            <a:off x="12010370" y="5663474"/>
            <a:ext cx="2011931" cy="1717040"/>
          </a:xfrm>
          <a:prstGeom prst="roundRect">
            <a:avLst>
              <a:gd name="adj" fmla="val 4260"/>
            </a:avLst>
          </a:prstGeom>
          <a:solidFill>
            <a:srgbClr val="E8F3EA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1" name="text-20"/>
          <p:cNvSpPr txBox="1"/>
          <p:nvPr/>
        </p:nvSpPr>
        <p:spPr>
          <a:xfrm>
            <a:off x="8291345" y="4723190"/>
            <a:ext cx="3353219" cy="367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LLM 기반 주 신호 생성</a:t>
            </a:r>
            <a:endParaRPr lang="en-US" sz="1600" dirty="0"/>
          </a:p>
        </p:txBody>
      </p:sp>
      <p:sp>
        <p:nvSpPr>
          <p:cNvPr id="22" name="text-21"/>
          <p:cNvSpPr txBox="1"/>
          <p:nvPr/>
        </p:nvSpPr>
        <p:spPr>
          <a:xfrm>
            <a:off x="12010370" y="5704356"/>
            <a:ext cx="2011931" cy="57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2. TCN 기반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보조 벡터 생성</a:t>
            </a:r>
            <a:endParaRPr lang="en-US" sz="1600" dirty="0"/>
          </a:p>
        </p:txBody>
      </p:sp>
      <p:sp>
        <p:nvSpPr>
          <p:cNvPr id="23" name="node-22"/>
          <p:cNvSpPr/>
          <p:nvPr/>
        </p:nvSpPr>
        <p:spPr>
          <a:xfrm>
            <a:off x="9083924" y="4069080"/>
            <a:ext cx="1950964" cy="449701"/>
          </a:xfrm>
          <a:prstGeom prst="roundRect">
            <a:avLst>
              <a:gd name="adj" fmla="val 20334"/>
            </a:avLst>
          </a:prstGeom>
          <a:solidFill>
            <a:srgbClr val="FFFFF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24" name="text-23"/>
          <p:cNvSpPr txBox="1"/>
          <p:nvPr/>
        </p:nvSpPr>
        <p:spPr>
          <a:xfrm>
            <a:off x="9157076" y="4069080"/>
            <a:ext cx="1804660" cy="44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이벤트 발생 (뉴스)</a:t>
            </a:r>
            <a:endParaRPr lang="en-US" sz="1550" dirty="0"/>
          </a:p>
        </p:txBody>
      </p:sp>
      <p:sp>
        <p:nvSpPr>
          <p:cNvPr id="25" name="arrow-24"/>
          <p:cNvSpPr/>
          <p:nvPr/>
        </p:nvSpPr>
        <p:spPr>
          <a:xfrm>
            <a:off x="10059406" y="4518781"/>
            <a:ext cx="0" cy="163528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26" name="node-25"/>
          <p:cNvSpPr/>
          <p:nvPr/>
        </p:nvSpPr>
        <p:spPr>
          <a:xfrm>
            <a:off x="9388762" y="5132010"/>
            <a:ext cx="1219352" cy="408819"/>
          </a:xfrm>
          <a:prstGeom prst="roundRect">
            <a:avLst>
              <a:gd name="adj" fmla="val 22367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27" name="text-26"/>
          <p:cNvSpPr txBox="1"/>
          <p:nvPr/>
        </p:nvSpPr>
        <p:spPr>
          <a:xfrm>
            <a:off x="9461914" y="5132010"/>
            <a:ext cx="1073048" cy="408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LLM</a:t>
            </a:r>
            <a:endParaRPr lang="en-US" sz="1550" dirty="0"/>
          </a:p>
        </p:txBody>
      </p:sp>
      <p:sp>
        <p:nvSpPr>
          <p:cNvPr id="28" name="arrow-27"/>
          <p:cNvSpPr/>
          <p:nvPr/>
        </p:nvSpPr>
        <p:spPr>
          <a:xfrm>
            <a:off x="9998438" y="5540829"/>
            <a:ext cx="0" cy="138998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29" name="arrow-28"/>
          <p:cNvSpPr/>
          <p:nvPr/>
        </p:nvSpPr>
        <p:spPr>
          <a:xfrm>
            <a:off x="9266827" y="5679827"/>
            <a:ext cx="1432739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30" name="arrow-29"/>
          <p:cNvSpPr/>
          <p:nvPr/>
        </p:nvSpPr>
        <p:spPr>
          <a:xfrm>
            <a:off x="9266827" y="5679827"/>
            <a:ext cx="0" cy="147175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1" name="arrow-30"/>
          <p:cNvSpPr/>
          <p:nvPr/>
        </p:nvSpPr>
        <p:spPr>
          <a:xfrm>
            <a:off x="10699566" y="5679827"/>
            <a:ext cx="0" cy="147175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2" name="node-31"/>
          <p:cNvSpPr/>
          <p:nvPr/>
        </p:nvSpPr>
        <p:spPr>
          <a:xfrm>
            <a:off x="8596183" y="5827002"/>
            <a:ext cx="1341288" cy="408819"/>
          </a:xfrm>
          <a:prstGeom prst="roundRect">
            <a:avLst>
              <a:gd name="adj" fmla="val 22367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3" name="text-32"/>
          <p:cNvSpPr txBox="1"/>
          <p:nvPr/>
        </p:nvSpPr>
        <p:spPr>
          <a:xfrm>
            <a:off x="8669335" y="5827002"/>
            <a:ext cx="1194984" cy="408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뉴스 요약</a:t>
            </a:r>
            <a:endParaRPr lang="en-US" sz="1550" dirty="0"/>
          </a:p>
        </p:txBody>
      </p:sp>
      <p:sp>
        <p:nvSpPr>
          <p:cNvPr id="34" name="node-33"/>
          <p:cNvSpPr/>
          <p:nvPr/>
        </p:nvSpPr>
        <p:spPr>
          <a:xfrm>
            <a:off x="10059406" y="5827002"/>
            <a:ext cx="1280320" cy="408819"/>
          </a:xfrm>
          <a:prstGeom prst="roundRect">
            <a:avLst>
              <a:gd name="adj" fmla="val 22367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5" name="text-34"/>
          <p:cNvSpPr txBox="1"/>
          <p:nvPr/>
        </p:nvSpPr>
        <p:spPr>
          <a:xfrm>
            <a:off x="10132558" y="5827002"/>
            <a:ext cx="1134016" cy="408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감성 점수</a:t>
            </a:r>
            <a:endParaRPr lang="en-US" sz="1550" dirty="0"/>
          </a:p>
        </p:txBody>
      </p:sp>
      <p:sp>
        <p:nvSpPr>
          <p:cNvPr id="36" name="arrow-35"/>
          <p:cNvSpPr/>
          <p:nvPr/>
        </p:nvSpPr>
        <p:spPr>
          <a:xfrm>
            <a:off x="9266827" y="6235821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37" name="node-36"/>
          <p:cNvSpPr/>
          <p:nvPr/>
        </p:nvSpPr>
        <p:spPr>
          <a:xfrm>
            <a:off x="8596183" y="6440230"/>
            <a:ext cx="1341288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38" name="text-37"/>
          <p:cNvSpPr txBox="1"/>
          <p:nvPr/>
        </p:nvSpPr>
        <p:spPr>
          <a:xfrm>
            <a:off x="8669335" y="6440230"/>
            <a:ext cx="1194984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임베딩 생성</a:t>
            </a:r>
            <a:endParaRPr lang="en-US" sz="1550" dirty="0"/>
          </a:p>
        </p:txBody>
      </p:sp>
      <p:sp>
        <p:nvSpPr>
          <p:cNvPr id="39" name="arrow-38"/>
          <p:cNvSpPr/>
          <p:nvPr/>
        </p:nvSpPr>
        <p:spPr>
          <a:xfrm>
            <a:off x="9266827" y="6767286"/>
            <a:ext cx="0" cy="163528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0" name="arrow-39"/>
          <p:cNvSpPr/>
          <p:nvPr/>
        </p:nvSpPr>
        <p:spPr>
          <a:xfrm>
            <a:off x="10699566" y="6235821"/>
            <a:ext cx="0" cy="694992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1" name="node-40"/>
          <p:cNvSpPr/>
          <p:nvPr/>
        </p:nvSpPr>
        <p:spPr>
          <a:xfrm>
            <a:off x="8474248" y="6930813"/>
            <a:ext cx="2987413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2" name="text-41"/>
          <p:cNvSpPr txBox="1"/>
          <p:nvPr/>
        </p:nvSpPr>
        <p:spPr>
          <a:xfrm>
            <a:off x="8547400" y="6930813"/>
            <a:ext cx="2841109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완전 연결층</a:t>
            </a:r>
            <a:endParaRPr lang="en-US" sz="1550" dirty="0"/>
          </a:p>
        </p:txBody>
      </p:sp>
      <p:sp>
        <p:nvSpPr>
          <p:cNvPr id="43" name="node-42"/>
          <p:cNvSpPr/>
          <p:nvPr/>
        </p:nvSpPr>
        <p:spPr>
          <a:xfrm>
            <a:off x="12254240" y="6317585"/>
            <a:ext cx="1524191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4" name="text-43"/>
          <p:cNvSpPr txBox="1"/>
          <p:nvPr/>
        </p:nvSpPr>
        <p:spPr>
          <a:xfrm>
            <a:off x="12327392" y="6317585"/>
            <a:ext cx="1377887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기술적 지표</a:t>
            </a:r>
            <a:endParaRPr lang="en-US" sz="1550" dirty="0"/>
          </a:p>
        </p:txBody>
      </p:sp>
      <p:sp>
        <p:nvSpPr>
          <p:cNvPr id="45" name="arrow-44"/>
          <p:cNvSpPr/>
          <p:nvPr/>
        </p:nvSpPr>
        <p:spPr>
          <a:xfrm>
            <a:off x="13016335" y="6644640"/>
            <a:ext cx="0" cy="245291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6" name="node-45"/>
          <p:cNvSpPr/>
          <p:nvPr/>
        </p:nvSpPr>
        <p:spPr>
          <a:xfrm>
            <a:off x="12254240" y="6889931"/>
            <a:ext cx="1524191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47" name="text-46"/>
          <p:cNvSpPr txBox="1"/>
          <p:nvPr/>
        </p:nvSpPr>
        <p:spPr>
          <a:xfrm>
            <a:off x="12327392" y="6889931"/>
            <a:ext cx="1377887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TCN</a:t>
            </a:r>
            <a:endParaRPr lang="en-US" sz="1550" dirty="0"/>
          </a:p>
        </p:txBody>
      </p:sp>
      <p:sp>
        <p:nvSpPr>
          <p:cNvPr id="48" name="arrow-47"/>
          <p:cNvSpPr/>
          <p:nvPr/>
        </p:nvSpPr>
        <p:spPr>
          <a:xfrm>
            <a:off x="9967954" y="7380514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49" name="arrow-48"/>
          <p:cNvSpPr/>
          <p:nvPr/>
        </p:nvSpPr>
        <p:spPr>
          <a:xfrm>
            <a:off x="13016335" y="7380514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50" name="node-49"/>
          <p:cNvSpPr/>
          <p:nvPr/>
        </p:nvSpPr>
        <p:spPr>
          <a:xfrm>
            <a:off x="8291345" y="7584924"/>
            <a:ext cx="3353219" cy="490583"/>
          </a:xfrm>
          <a:prstGeom prst="roundRect">
            <a:avLst>
              <a:gd name="adj" fmla="val 18639"/>
            </a:avLst>
          </a:prstGeom>
          <a:solidFill>
            <a:srgbClr val="FFFFF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51" name="text-50"/>
          <p:cNvSpPr txBox="1"/>
          <p:nvPr/>
        </p:nvSpPr>
        <p:spPr>
          <a:xfrm>
            <a:off x="8364497" y="7584924"/>
            <a:ext cx="3206915" cy="490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chemeClr val="tx1"/>
                </a:solidFill>
              </a:rPr>
              <a:t>주 신호: 512차원 벡터</a:t>
            </a:r>
            <a:endParaRPr lang="en-US" sz="1550" dirty="0"/>
          </a:p>
        </p:txBody>
      </p:sp>
      <p:sp>
        <p:nvSpPr>
          <p:cNvPr id="52" name="node-51"/>
          <p:cNvSpPr/>
          <p:nvPr/>
        </p:nvSpPr>
        <p:spPr>
          <a:xfrm>
            <a:off x="12010370" y="7584924"/>
            <a:ext cx="2011931" cy="490583"/>
          </a:xfrm>
          <a:prstGeom prst="roundRect">
            <a:avLst>
              <a:gd name="adj" fmla="val 18639"/>
            </a:avLst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3" name="text-52"/>
          <p:cNvSpPr txBox="1"/>
          <p:nvPr/>
        </p:nvSpPr>
        <p:spPr>
          <a:xfrm>
            <a:off x="12083522" y="7584924"/>
            <a:ext cx="1865627" cy="490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보조 신호:</a:t>
            </a:r>
            <a:endParaRPr lang="en-US" sz="14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450" b="1" dirty="0">
                <a:solidFill>
                  <a:schemeClr val="tx1"/>
                </a:solidFill>
              </a:rPr>
              <a:t>(T, 512)차원 벡터</a:t>
            </a:r>
            <a:endParaRPr lang="en-US" sz="1450" dirty="0"/>
          </a:p>
        </p:txBody>
      </p:sp>
      <p:sp>
        <p:nvSpPr>
          <p:cNvPr id="54" name="arrow-53"/>
          <p:cNvSpPr/>
          <p:nvPr/>
        </p:nvSpPr>
        <p:spPr>
          <a:xfrm>
            <a:off x="9967954" y="8075507"/>
            <a:ext cx="0" cy="17988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5" name="arrow-54"/>
          <p:cNvSpPr/>
          <p:nvPr/>
        </p:nvSpPr>
        <p:spPr>
          <a:xfrm>
            <a:off x="13016335" y="8075507"/>
            <a:ext cx="0" cy="17988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6" name="arrow-55"/>
          <p:cNvSpPr/>
          <p:nvPr/>
        </p:nvSpPr>
        <p:spPr>
          <a:xfrm>
            <a:off x="9967954" y="8255387"/>
            <a:ext cx="3048381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57" name="arrow-56"/>
          <p:cNvSpPr/>
          <p:nvPr/>
        </p:nvSpPr>
        <p:spPr>
          <a:xfrm>
            <a:off x="11461661" y="8255387"/>
            <a:ext cx="0" cy="228939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58" name="node-57"/>
          <p:cNvSpPr/>
          <p:nvPr/>
        </p:nvSpPr>
        <p:spPr>
          <a:xfrm>
            <a:off x="9266827" y="8484326"/>
            <a:ext cx="4389669" cy="449701"/>
          </a:xfrm>
          <a:prstGeom prst="roundRect">
            <a:avLst>
              <a:gd name="adj" fmla="val 20334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59" name="text-58"/>
          <p:cNvSpPr txBox="1"/>
          <p:nvPr/>
        </p:nvSpPr>
        <p:spPr>
          <a:xfrm>
            <a:off x="9339979" y="8484326"/>
            <a:ext cx="4243365" cy="44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3. 교차 어텐션</a:t>
            </a:r>
            <a:endParaRPr lang="en-US" sz="1700" dirty="0"/>
          </a:p>
        </p:txBody>
      </p:sp>
      <p:sp>
        <p:nvSpPr>
          <p:cNvPr id="60" name="arrow-59"/>
          <p:cNvSpPr/>
          <p:nvPr/>
        </p:nvSpPr>
        <p:spPr>
          <a:xfrm>
            <a:off x="11461661" y="8934027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1" name="node-60"/>
          <p:cNvSpPr/>
          <p:nvPr/>
        </p:nvSpPr>
        <p:spPr>
          <a:xfrm>
            <a:off x="9937471" y="9138436"/>
            <a:ext cx="3048381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62" name="text-61"/>
          <p:cNvSpPr txBox="1"/>
          <p:nvPr/>
        </p:nvSpPr>
        <p:spPr>
          <a:xfrm>
            <a:off x="10010623" y="9138436"/>
            <a:ext cx="2902077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보조 문맥 벡터: 512차원</a:t>
            </a:r>
            <a:endParaRPr lang="en-US" sz="1550" dirty="0"/>
          </a:p>
        </p:txBody>
      </p:sp>
      <p:sp>
        <p:nvSpPr>
          <p:cNvPr id="63" name="arrow-62"/>
          <p:cNvSpPr/>
          <p:nvPr/>
        </p:nvSpPr>
        <p:spPr>
          <a:xfrm>
            <a:off x="11461661" y="9465491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4" name="node-63"/>
          <p:cNvSpPr/>
          <p:nvPr/>
        </p:nvSpPr>
        <p:spPr>
          <a:xfrm>
            <a:off x="9266827" y="9669901"/>
            <a:ext cx="4389669" cy="449701"/>
          </a:xfrm>
          <a:prstGeom prst="roundRect">
            <a:avLst>
              <a:gd name="adj" fmla="val 20334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65" name="text-64"/>
          <p:cNvSpPr txBox="1"/>
          <p:nvPr/>
        </p:nvSpPr>
        <p:spPr>
          <a:xfrm>
            <a:off x="9339979" y="9669901"/>
            <a:ext cx="4243365" cy="44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4. 게이트 기반 잔차 결합</a:t>
            </a:r>
            <a:endParaRPr lang="en-US" sz="1700" dirty="0"/>
          </a:p>
        </p:txBody>
      </p:sp>
      <p:sp>
        <p:nvSpPr>
          <p:cNvPr id="66" name="arrow-65"/>
          <p:cNvSpPr/>
          <p:nvPr/>
        </p:nvSpPr>
        <p:spPr>
          <a:xfrm>
            <a:off x="7925539" y="7830215"/>
            <a:ext cx="365806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67" name="arrow-66"/>
          <p:cNvSpPr/>
          <p:nvPr/>
        </p:nvSpPr>
        <p:spPr>
          <a:xfrm>
            <a:off x="7925539" y="7830215"/>
            <a:ext cx="0" cy="2064536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</a:ln>
        </p:spPr>
      </p:sp>
      <p:sp>
        <p:nvSpPr>
          <p:cNvPr id="68" name="arrow-67"/>
          <p:cNvSpPr/>
          <p:nvPr/>
        </p:nvSpPr>
        <p:spPr>
          <a:xfrm>
            <a:off x="7925539" y="9894751"/>
            <a:ext cx="1341288" cy="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69" name="arrow-68"/>
          <p:cNvSpPr/>
          <p:nvPr/>
        </p:nvSpPr>
        <p:spPr>
          <a:xfrm>
            <a:off x="11461661" y="10119602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0" name="node-69"/>
          <p:cNvSpPr/>
          <p:nvPr/>
        </p:nvSpPr>
        <p:spPr>
          <a:xfrm>
            <a:off x="9937471" y="10324011"/>
            <a:ext cx="3048381" cy="327055"/>
          </a:xfrm>
          <a:prstGeom prst="roundRect">
            <a:avLst>
              <a:gd name="adj" fmla="val 27959"/>
            </a:avLst>
          </a:prstGeom>
          <a:solidFill>
            <a:srgbClr val="FFFFFF"/>
          </a:solidFill>
          <a:ln w="15875">
            <a:solidFill>
              <a:srgbClr val="8A94A6"/>
            </a:solidFill>
            <a:prstDash val="solid"/>
          </a:ln>
        </p:spPr>
      </p:sp>
      <p:sp>
        <p:nvSpPr>
          <p:cNvPr id="71" name="text-70"/>
          <p:cNvSpPr txBox="1"/>
          <p:nvPr/>
        </p:nvSpPr>
        <p:spPr>
          <a:xfrm>
            <a:off x="10010623" y="10324011"/>
            <a:ext cx="2902077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dirty="0">
                <a:solidFill>
                  <a:schemeClr val="tx1"/>
                </a:solidFill>
              </a:rPr>
              <a:t>통합 표현 벡터: 512차원</a:t>
            </a:r>
            <a:endParaRPr lang="en-US" sz="1550" dirty="0"/>
          </a:p>
        </p:txBody>
      </p:sp>
      <p:sp>
        <p:nvSpPr>
          <p:cNvPr id="72" name="arrow-71"/>
          <p:cNvSpPr/>
          <p:nvPr/>
        </p:nvSpPr>
        <p:spPr>
          <a:xfrm>
            <a:off x="11461661" y="10651067"/>
            <a:ext cx="0" cy="204410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3" name="node-72"/>
          <p:cNvSpPr/>
          <p:nvPr/>
        </p:nvSpPr>
        <p:spPr>
          <a:xfrm>
            <a:off x="9266827" y="10855476"/>
            <a:ext cx="4389669" cy="449701"/>
          </a:xfrm>
          <a:prstGeom prst="roundRect">
            <a:avLst>
              <a:gd name="adj" fmla="val 20334"/>
            </a:avLst>
          </a:prstGeom>
          <a:solidFill>
            <a:srgbClr val="FBE8D0"/>
          </a:solidFill>
          <a:ln w="15875">
            <a:solidFill>
              <a:srgbClr val="E3A12F"/>
            </a:solidFill>
            <a:prstDash val="solid"/>
          </a:ln>
        </p:spPr>
      </p:sp>
      <p:sp>
        <p:nvSpPr>
          <p:cNvPr id="74" name="text-73"/>
          <p:cNvSpPr txBox="1"/>
          <p:nvPr/>
        </p:nvSpPr>
        <p:spPr>
          <a:xfrm>
            <a:off x="9339979" y="10855476"/>
            <a:ext cx="4243365" cy="449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5. 등락률 예측</a:t>
            </a:r>
            <a:endParaRPr lang="en-US" sz="1700" dirty="0"/>
          </a:p>
        </p:txBody>
      </p:sp>
      <p:sp>
        <p:nvSpPr>
          <p:cNvPr id="75" name="arrow-74"/>
          <p:cNvSpPr/>
          <p:nvPr/>
        </p:nvSpPr>
        <p:spPr>
          <a:xfrm>
            <a:off x="11461661" y="11305177"/>
            <a:ext cx="0" cy="163528"/>
          </a:xfrm>
          <a:prstGeom prst="line">
            <a:avLst/>
          </a:prstGeom>
          <a:noFill/>
          <a:ln w="22225">
            <a:solidFill>
              <a:srgbClr val="14233F"/>
            </a:solidFill>
            <a:prstDash val="solid"/>
            <a:tailEnd type="triangle"/>
          </a:ln>
        </p:spPr>
      </p:sp>
      <p:sp>
        <p:nvSpPr>
          <p:cNvPr id="76" name="node-75"/>
          <p:cNvSpPr/>
          <p:nvPr/>
        </p:nvSpPr>
        <p:spPr>
          <a:xfrm>
            <a:off x="10181341" y="11468705"/>
            <a:ext cx="2560640" cy="327055"/>
          </a:xfrm>
          <a:prstGeom prst="roundRect">
            <a:avLst>
              <a:gd name="adj" fmla="val 27959"/>
            </a:avLst>
          </a:prstGeom>
          <a:solidFill>
            <a:srgbClr val="14233F"/>
          </a:solidFill>
          <a:ln w="15875">
            <a:solidFill>
              <a:srgbClr val="14233F"/>
            </a:solidFill>
            <a:prstDash val="solid"/>
          </a:ln>
        </p:spPr>
      </p:sp>
      <p:sp>
        <p:nvSpPr>
          <p:cNvPr id="77" name="text-76"/>
          <p:cNvSpPr txBox="1"/>
          <p:nvPr/>
        </p:nvSpPr>
        <p:spPr>
          <a:xfrm>
            <a:off x="10254493" y="11468705"/>
            <a:ext cx="2414336" cy="32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50" b="1" dirty="0">
                <a:solidFill>
                  <a:schemeClr val="bg1"/>
                </a:solidFill>
              </a:rPr>
              <a:t>등락률</a:t>
            </a:r>
            <a:endParaRPr lang="en-US" sz="1550" dirty="0"/>
          </a:p>
        </p:txBody>
      </p:sp>
      <p:sp>
        <p:nvSpPr>
          <p:cNvPr id="78" name="card-77"/>
          <p:cNvSpPr/>
          <p:nvPr/>
        </p:nvSpPr>
        <p:spPr>
          <a:xfrm>
            <a:off x="7742682" y="12618720"/>
            <a:ext cx="6828282" cy="4297680"/>
          </a:xfrm>
          <a:prstGeom prst="roundRect">
            <a:avLst>
              <a:gd name="adj" fmla="val 383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9" name="badge-78"/>
          <p:cNvSpPr/>
          <p:nvPr/>
        </p:nvSpPr>
        <p:spPr>
          <a:xfrm>
            <a:off x="8062722" y="1289304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text-79"/>
          <p:cNvSpPr txBox="1"/>
          <p:nvPr/>
        </p:nvSpPr>
        <p:spPr>
          <a:xfrm>
            <a:off x="8062722" y="1289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</a:t>
            </a:r>
            <a:endParaRPr lang="en-US" sz="2600" dirty="0"/>
          </a:p>
        </p:txBody>
      </p:sp>
      <p:sp>
        <p:nvSpPr>
          <p:cNvPr id="81" name="text-80"/>
          <p:cNvSpPr txBox="1"/>
          <p:nvPr/>
        </p:nvSpPr>
        <p:spPr>
          <a:xfrm>
            <a:off x="8839962" y="1289304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Source Program</a:t>
            </a:r>
            <a:endParaRPr lang="en-US" sz="3200" dirty="0"/>
          </a:p>
        </p:txBody>
      </p:sp>
      <p:sp>
        <p:nvSpPr>
          <p:cNvPr id="82" name="text-81"/>
          <p:cNvSpPr txBox="1"/>
          <p:nvPr/>
        </p:nvSpPr>
        <p:spPr>
          <a:xfrm>
            <a:off x="8108442" y="13761720"/>
            <a:ext cx="60967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GitHub  </a:t>
            </a:r>
            <a:r>
              <a:rPr lang="en-US" sz="1700" b="1" dirty="0">
                <a:solidFill>
                  <a:schemeClr val="accent3"/>
                </a:solidFill>
              </a:rPr>
              <a:t>github.com/kimsangmin1234/jolup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개발 환경  </a:t>
            </a:r>
            <a:r>
              <a:rPr lang="en-US" sz="1500" dirty="0">
                <a:solidFill>
                  <a:schemeClr val="tx1"/>
                </a:solidFill>
              </a:rPr>
              <a:t>Python · PyTorch · LightGBM · OpenAI API</a:t>
            </a:r>
            <a:endParaRPr lang="en-US" sz="1700" dirty="0"/>
          </a:p>
        </p:txBody>
      </p:sp>
      <p:graphicFrame>
        <p:nvGraphicFramePr>
          <p:cNvPr id="83" name="sr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25996"/>
              </p:ext>
            </p:extLst>
          </p:nvPr>
        </p:nvGraphicFramePr>
        <p:xfrm>
          <a:off x="8108442" y="14904720"/>
          <a:ext cx="6096762" cy="1755648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modules/news_encoder.py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① LLM 기반 주 신호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modules/tcn_encoder.py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② TCN 기반 보조 벡터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modules/cross_attention.py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③ 교차 어텐션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modules/gated_fusion.py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④ 게이트 기반 잔차 결합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modules/return_predictor.py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⑤ 등락률 예측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run_edt_suite2.py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학습 · 평가</a:t>
                      </a:r>
                      <a:endParaRPr lang="en-US" sz="14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" name="card-82"/>
          <p:cNvSpPr/>
          <p:nvPr/>
        </p:nvSpPr>
        <p:spPr>
          <a:xfrm>
            <a:off x="7742682" y="17190720"/>
            <a:ext cx="6828282" cy="4010558"/>
          </a:xfrm>
          <a:prstGeom prst="roundRect">
            <a:avLst>
              <a:gd name="adj" fmla="val 410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5" name="badge-83"/>
          <p:cNvSpPr/>
          <p:nvPr/>
        </p:nvSpPr>
        <p:spPr>
          <a:xfrm>
            <a:off x="8062722" y="1746504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text-84"/>
          <p:cNvSpPr txBox="1"/>
          <p:nvPr/>
        </p:nvSpPr>
        <p:spPr>
          <a:xfrm>
            <a:off x="8062722" y="17465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6</a:t>
            </a:r>
            <a:endParaRPr lang="en-US" sz="2600" dirty="0"/>
          </a:p>
        </p:txBody>
      </p:sp>
      <p:sp>
        <p:nvSpPr>
          <p:cNvPr id="87" name="text-85"/>
          <p:cNvSpPr txBox="1"/>
          <p:nvPr/>
        </p:nvSpPr>
        <p:spPr>
          <a:xfrm>
            <a:off x="8839962" y="1746504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결론</a:t>
            </a:r>
            <a:endParaRPr lang="en-US" sz="3200" dirty="0"/>
          </a:p>
        </p:txBody>
      </p:sp>
      <p:sp>
        <p:nvSpPr>
          <p:cNvPr id="88" name="text-86"/>
          <p:cNvSpPr txBox="1"/>
          <p:nvPr/>
        </p:nvSpPr>
        <p:spPr>
          <a:xfrm>
            <a:off x="8108442" y="18333720"/>
            <a:ext cx="6096762" cy="259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성과  </a:t>
            </a:r>
            <a:r>
              <a:rPr lang="en-US" sz="1900" dirty="0">
                <a:solidFill>
                  <a:schemeClr val="tx1"/>
                </a:solidFill>
              </a:rPr>
              <a:t>감성 점수만으로는 예측력이 없지만(−0.006), 제안 구조는 유의한 예측력(0.060)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한계  </a:t>
            </a:r>
            <a:r>
              <a:rPr lang="en-US" sz="1900" dirty="0">
                <a:solidFill>
                  <a:schemeClr val="tx1"/>
                </a:solidFill>
              </a:rPr>
              <a:t>최근 구간 약화(0.033), 거래비용 반영 시 수익 소멸, 어텐션은 30일에 고르게 분포</a:t>
            </a:r>
            <a:endParaRPr lang="en-US" sz="19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</a:rPr>
              <a:t>향후  </a:t>
            </a:r>
            <a:r>
              <a:rPr lang="en-US" sz="1900" dirty="0">
                <a:solidFill>
                  <a:schemeClr val="tx1"/>
                </a:solidFill>
              </a:rPr>
              <a:t>입력 확장·앙상블로 0.092까지 개선 확인 → 비용을 고려한 전략 검증</a:t>
            </a:r>
            <a:endParaRPr lang="en-US" sz="1900" dirty="0"/>
          </a:p>
        </p:txBody>
      </p:sp>
      <p:sp>
        <p:nvSpPr>
          <p:cNvPr id="89" name="card-87"/>
          <p:cNvSpPr/>
          <p:nvPr/>
        </p:nvSpPr>
        <p:spPr>
          <a:xfrm>
            <a:off x="548640" y="12618720"/>
            <a:ext cx="6828282" cy="8582558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0" name="badge-88"/>
          <p:cNvSpPr/>
          <p:nvPr/>
        </p:nvSpPr>
        <p:spPr>
          <a:xfrm>
            <a:off x="868680" y="12893040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1" name="text-89"/>
          <p:cNvSpPr txBox="1"/>
          <p:nvPr/>
        </p:nvSpPr>
        <p:spPr>
          <a:xfrm>
            <a:off x="868680" y="128930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</a:t>
            </a:r>
            <a:endParaRPr lang="en-US" sz="2600" dirty="0"/>
          </a:p>
        </p:txBody>
      </p:sp>
      <p:sp>
        <p:nvSpPr>
          <p:cNvPr id="92" name="text-90"/>
          <p:cNvSpPr txBox="1"/>
          <p:nvPr/>
        </p:nvSpPr>
        <p:spPr>
          <a:xfrm>
            <a:off x="1645920" y="12893040"/>
            <a:ext cx="545668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성능평가 결과</a:t>
            </a:r>
            <a:endParaRPr lang="en-US" sz="3200" dirty="0"/>
          </a:p>
        </p:txBody>
      </p:sp>
      <p:sp>
        <p:nvSpPr>
          <p:cNvPr id="93" name="text-91"/>
          <p:cNvSpPr txBox="1"/>
          <p:nvPr/>
        </p:nvSpPr>
        <p:spPr>
          <a:xfrm>
            <a:off x="914400" y="13761720"/>
            <a:ext cx="60967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450" b="1" dirty="0">
                <a:solidFill>
                  <a:schemeClr val="accent1"/>
                </a:solidFill>
              </a:rPr>
              <a:t>평가 방법  </a:t>
            </a:r>
            <a:r>
              <a:rPr lang="ko-KR" altLang="en-US" sz="1450" dirty="0">
                <a:solidFill>
                  <a:schemeClr val="tx1"/>
                </a:solidFill>
              </a:rPr>
              <a:t>2020.03~2021.05 기업 보도자료로 "과거로 학습 → 다음 기간 평가"를 3번 반복 (평가 뉴스 32,926건)</a:t>
            </a:r>
          </a:p>
          <a:p>
            <a:pPr marL="0" indent="0">
              <a:lnSpc>
                <a:spcPct val="105000"/>
              </a:lnSpc>
              <a:spcAft>
                <a:spcPts val="300"/>
              </a:spcAft>
              <a:buNone/>
            </a:pPr>
            <a:r>
              <a:rPr lang="ko-KR" altLang="en-US" sz="1450" b="1" dirty="0">
                <a:solidFill>
                  <a:schemeClr val="accent1"/>
                </a:solidFill>
              </a:rPr>
              <a:t>순위 IC  </a:t>
            </a:r>
            <a:r>
              <a:rPr lang="ko-KR" altLang="en-US" sz="1450" dirty="0">
                <a:solidFill>
                  <a:schemeClr val="tx1"/>
                </a:solidFill>
              </a:rPr>
              <a:t>예측 순서와 실제 등락 순서의 일치도 (0 = 무작위, 0.05 이상이면 의미 있음)</a:t>
            </a:r>
          </a:p>
        </p:txBody>
      </p:sp>
      <p:sp>
        <p:nvSpPr>
          <p:cNvPr id="94" name="stat-92"/>
          <p:cNvSpPr/>
          <p:nvPr/>
        </p:nvSpPr>
        <p:spPr>
          <a:xfrm>
            <a:off x="914400" y="14843760"/>
            <a:ext cx="1910334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5" name="text-93"/>
          <p:cNvSpPr txBox="1"/>
          <p:nvPr/>
        </p:nvSpPr>
        <p:spPr>
          <a:xfrm>
            <a:off x="914400" y="1495348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0.060</a:t>
            </a:r>
            <a:endParaRPr lang="en-US" sz="3400" dirty="0"/>
          </a:p>
        </p:txBody>
      </p:sp>
      <p:sp>
        <p:nvSpPr>
          <p:cNvPr id="96" name="text-94"/>
          <p:cNvSpPr txBox="1"/>
          <p:nvPr/>
        </p:nvSpPr>
        <p:spPr>
          <a:xfrm>
            <a:off x="987552" y="1568500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논문 구조의 순위 IC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우연 확률 0.1% 미만</a:t>
            </a:r>
            <a:endParaRPr lang="en-US" sz="1350" dirty="0"/>
          </a:p>
        </p:txBody>
      </p:sp>
      <p:sp>
        <p:nvSpPr>
          <p:cNvPr id="97" name="stat-95"/>
          <p:cNvSpPr/>
          <p:nvPr/>
        </p:nvSpPr>
        <p:spPr>
          <a:xfrm>
            <a:off x="3007614" y="14843760"/>
            <a:ext cx="1910334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8" name="text-96"/>
          <p:cNvSpPr txBox="1"/>
          <p:nvPr/>
        </p:nvSpPr>
        <p:spPr>
          <a:xfrm>
            <a:off x="3007614" y="1495348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 / 3</a:t>
            </a:r>
            <a:endParaRPr lang="en-US" sz="3400" dirty="0"/>
          </a:p>
        </p:txBody>
      </p:sp>
      <p:sp>
        <p:nvSpPr>
          <p:cNvPr id="99" name="text-97"/>
          <p:cNvSpPr txBox="1"/>
          <p:nvPr/>
        </p:nvSpPr>
        <p:spPr>
          <a:xfrm>
            <a:off x="3080766" y="1568500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세 평가 기간 모두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예측력 확인</a:t>
            </a:r>
            <a:endParaRPr lang="en-US" sz="1350" dirty="0"/>
          </a:p>
        </p:txBody>
      </p:sp>
      <p:sp>
        <p:nvSpPr>
          <p:cNvPr id="100" name="stat-98"/>
          <p:cNvSpPr/>
          <p:nvPr/>
        </p:nvSpPr>
        <p:spPr>
          <a:xfrm>
            <a:off x="5100828" y="14843760"/>
            <a:ext cx="1910334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1" name="text-99"/>
          <p:cNvSpPr txBox="1"/>
          <p:nvPr/>
        </p:nvSpPr>
        <p:spPr>
          <a:xfrm>
            <a:off x="5100828" y="14953488"/>
            <a:ext cx="19103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6"/>
                </a:solidFill>
              </a:rPr>
              <a:t>−0.006</a:t>
            </a:r>
            <a:endParaRPr lang="en-US" sz="3400" dirty="0"/>
          </a:p>
        </p:txBody>
      </p:sp>
      <p:sp>
        <p:nvSpPr>
          <p:cNvPr id="102" name="text-100"/>
          <p:cNvSpPr txBox="1"/>
          <p:nvPr/>
        </p:nvSpPr>
        <p:spPr>
          <a:xfrm>
            <a:off x="5173980" y="15685008"/>
            <a:ext cx="1764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감성 점수만 쓰면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chemeClr val="tx1"/>
                </a:solidFill>
              </a:rPr>
              <a:t>예측 못 함 (≈ 0)</a:t>
            </a:r>
            <a:endParaRPr lang="en-US" sz="1350" dirty="0"/>
          </a:p>
        </p:txBody>
      </p:sp>
      <p:graphicFrame>
        <p:nvGraphicFramePr>
          <p:cNvPr id="103" name="chart-ic"/>
          <p:cNvGraphicFramePr/>
          <p:nvPr>
            <p:extLst>
              <p:ext uri="{D42A27DB-BD31-4B8C-83A1-F6EECF244321}">
                <p14:modId xmlns:p14="http://schemas.microsoft.com/office/powerpoint/2010/main" val="4030103467"/>
              </p:ext>
            </p:extLst>
          </p:nvPr>
        </p:nvGraphicFramePr>
        <p:xfrm>
          <a:off x="914400" y="17129760"/>
          <a:ext cx="6096762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text-summary"/>
          <p:cNvSpPr txBox="1"/>
          <p:nvPr/>
        </p:nvSpPr>
        <p:spPr>
          <a:xfrm>
            <a:off x="914400" y="16672560"/>
            <a:ext cx="609676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chemeClr val="accent1"/>
                </a:solidFill>
              </a:rPr>
              <a:t>→ 감성 점수만으로는 예측 불가, 뉴스 의미·감성 + 시장 지표를 결합한 논문 구조는 예측 가능</a:t>
            </a:r>
          </a:p>
        </p:txBody>
      </p:sp>
      <p:graphicFrame>
        <p:nvGraphicFramePr>
          <p:cNvPr id="104" name="chart-window"/>
          <p:cNvGraphicFramePr/>
          <p:nvPr>
            <p:extLst>
              <p:ext uri="{D42A27DB-BD31-4B8C-83A1-F6EECF244321}">
                <p14:modId xmlns:p14="http://schemas.microsoft.com/office/powerpoint/2010/main" val="392070214"/>
              </p:ext>
            </p:extLst>
          </p:nvPr>
        </p:nvGraphicFramePr>
        <p:xfrm>
          <a:off x="914400" y="19443192"/>
          <a:ext cx="6096762" cy="17885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News Event Poster">
  <a:themeElements>
    <a:clrScheme name="News Event Poster">
      <a:dk1>
        <a:srgbClr val="1F2633"/>
      </a:dk1>
      <a:lt1>
        <a:srgbClr val="FFFFFF"/>
      </a:lt1>
      <a:dk2>
        <a:srgbClr val="14233F"/>
      </a:dk2>
      <a:lt2>
        <a:srgbClr val="EDF2F8"/>
      </a:lt2>
      <a:accent1>
        <a:srgbClr val="14233F"/>
      </a:accent1>
      <a:accent2>
        <a:srgbClr val="E3A12F"/>
      </a:accent2>
      <a:accent3>
        <a:srgbClr val="1F7A8C"/>
      </a:accent3>
      <a:accent4>
        <a:srgbClr val="C0392B"/>
      </a:accent4>
      <a:accent5>
        <a:srgbClr val="2E8B57"/>
      </a:accent5>
      <a:accent6>
        <a:srgbClr val="6B7686"/>
      </a:accent6>
      <a:hlink>
        <a:srgbClr val="1F7A8C"/>
      </a:hlink>
      <a:folHlink>
        <a:srgbClr val="6B7686"/>
      </a:folHlink>
    </a:clrScheme>
    <a:fontScheme name="News Event Poster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559</Words>
  <Application>Microsoft Office PowerPoint</Application>
  <PresentationFormat>사용자 지정</PresentationFormat>
  <Paragraphs>76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Courier New</vt:lpstr>
      <vt:lpstr>News Event Poster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뉴스 이벤트 기반 주식 가격 예측 모델</dc:title>
  <dc:subject>PptxGenJS Presentation</dc:subject>
  <dc:creator>김상민, 성우제</dc:creator>
  <cp:lastModifiedBy>상민 김</cp:lastModifiedBy>
  <cp:revision>2</cp:revision>
  <dcterms:created xsi:type="dcterms:W3CDTF">2026-10-13T11:47:00Z</dcterms:created>
  <dcterms:modified xsi:type="dcterms:W3CDTF">2026-10-20T09:17:40Z</dcterms:modified>
</cp:coreProperties>
</file>