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dfa80cf7-3160-4edb-3ea7-4686a519452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LLM 방향 규칙</c:v>
                  </c:pt>
                  <c:pt idx="2">
                    <c:v>논문 구조 (P0)</c:v>
                  </c:pt>
                  <c:pt idx="3">
                    <c:v>추가 개선 실험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</c:v>
                </c:pt>
                <c:pt idx="2">
                  <c:v>0.06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45262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기술적 지표 9종 × 30일 → 인과적 TCN → 시점별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주 신호(Q)로 30개 보조 벡터(K·V)를 softmax 가중 평균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 = p + σ(W[p; c]) ⊙ c, 보조 정보 반영 정도를 학습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MLP 512 → 256 → 64 → 1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14400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34440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82" name="text-81"/>
          <p:cNvSpPr txBox="1"/>
          <p:nvPr/>
        </p:nvSpPr>
        <p:spPr>
          <a:xfrm>
            <a:off x="8108442" y="1348740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463040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run_edt_suite2.py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card-82"/>
          <p:cNvSpPr/>
          <p:nvPr/>
        </p:nvSpPr>
        <p:spPr>
          <a:xfrm>
            <a:off x="7742682" y="16916400"/>
            <a:ext cx="6828282" cy="4010558"/>
          </a:xfrm>
          <a:prstGeom prst="roundRect">
            <a:avLst>
              <a:gd name="adj" fmla="val 41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5" name="badge-83"/>
          <p:cNvSpPr/>
          <p:nvPr/>
        </p:nvSpPr>
        <p:spPr>
          <a:xfrm>
            <a:off x="8062722" y="17190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6" name="text-84"/>
          <p:cNvSpPr txBox="1"/>
          <p:nvPr/>
        </p:nvSpPr>
        <p:spPr>
          <a:xfrm>
            <a:off x="8062722" y="17190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7" name="text-85"/>
          <p:cNvSpPr txBox="1"/>
          <p:nvPr/>
        </p:nvSpPr>
        <p:spPr>
          <a:xfrm>
            <a:off x="8839962" y="17190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8" name="text-86"/>
          <p:cNvSpPr txBox="1"/>
          <p:nvPr/>
        </p:nvSpPr>
        <p:spPr>
          <a:xfrm>
            <a:off x="8108442" y="18059400"/>
            <a:ext cx="6096762" cy="259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향후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입력 확장·앙상블로 0.092까지 개선 확인 → 비용을 고려한 전략 검증</a:t>
            </a:r>
            <a:endParaRPr lang="en-US" sz="1900" dirty="0"/>
          </a:p>
        </p:txBody>
      </p:sp>
      <p:sp>
        <p:nvSpPr>
          <p:cNvPr id="89" name="card-87"/>
          <p:cNvSpPr/>
          <p:nvPr/>
        </p:nvSpPr>
        <p:spPr>
          <a:xfrm>
            <a:off x="548640" y="1234440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0" name="badge-88"/>
          <p:cNvSpPr/>
          <p:nvPr/>
        </p:nvSpPr>
        <p:spPr>
          <a:xfrm>
            <a:off x="868680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text-89"/>
          <p:cNvSpPr txBox="1"/>
          <p:nvPr/>
        </p:nvSpPr>
        <p:spPr>
          <a:xfrm>
            <a:off x="868680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92" name="text-90"/>
          <p:cNvSpPr txBox="1"/>
          <p:nvPr/>
        </p:nvSpPr>
        <p:spPr>
          <a:xfrm>
            <a:off x="1645920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3" name="text-91"/>
          <p:cNvSpPr txBox="1"/>
          <p:nvPr/>
        </p:nvSpPr>
        <p:spPr>
          <a:xfrm>
            <a:off x="914400" y="1348740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94" name="stat-92"/>
          <p:cNvSpPr/>
          <p:nvPr/>
        </p:nvSpPr>
        <p:spPr>
          <a:xfrm>
            <a:off x="914400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" name="text-93"/>
          <p:cNvSpPr txBox="1"/>
          <p:nvPr/>
        </p:nvSpPr>
        <p:spPr>
          <a:xfrm>
            <a:off x="914400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6" name="text-94"/>
          <p:cNvSpPr txBox="1"/>
          <p:nvPr/>
        </p:nvSpPr>
        <p:spPr>
          <a:xfrm>
            <a:off x="987552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0.046~0.073</a:t>
            </a:r>
            <a:endParaRPr lang="en-US" sz="1350" dirty="0"/>
          </a:p>
        </p:txBody>
      </p:sp>
      <p:sp>
        <p:nvSpPr>
          <p:cNvPr id="97" name="stat-95"/>
          <p:cNvSpPr/>
          <p:nvPr/>
        </p:nvSpPr>
        <p:spPr>
          <a:xfrm>
            <a:off x="3007614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3007614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99" name="text-97"/>
          <p:cNvSpPr txBox="1"/>
          <p:nvPr/>
        </p:nvSpPr>
        <p:spPr>
          <a:xfrm>
            <a:off x="3080766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구간 모두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양(+)의 예측력</a:t>
            </a:r>
            <a:endParaRPr lang="en-US" sz="1350" dirty="0"/>
          </a:p>
        </p:txBody>
      </p:sp>
      <p:sp>
        <p:nvSpPr>
          <p:cNvPr id="100" name="stat-98"/>
          <p:cNvSpPr/>
          <p:nvPr/>
        </p:nvSpPr>
        <p:spPr>
          <a:xfrm>
            <a:off x="5100828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1" name="text-99"/>
          <p:cNvSpPr txBox="1"/>
          <p:nvPr/>
        </p:nvSpPr>
        <p:spPr>
          <a:xfrm>
            <a:off x="5100828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2" name="text-100"/>
          <p:cNvSpPr txBox="1"/>
          <p:nvPr/>
        </p:nvSpPr>
        <p:spPr>
          <a:xfrm>
            <a:off x="5173980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사용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(예측력 없음)</a:t>
            </a:r>
            <a:endParaRPr lang="en-US" sz="1350" dirty="0"/>
          </a:p>
        </p:txBody>
      </p:sp>
      <p:graphicFrame>
        <p:nvGraphicFramePr>
          <p:cNvPr id="103" name="chart-ic" descr=""/>
          <p:cNvGraphicFramePr/>
          <p:nvPr/>
        </p:nvGraphicFramePr>
        <p:xfrm>
          <a:off x="914400" y="16139160"/>
          <a:ext cx="609676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4" name="chart-window" descr=""/>
          <p:cNvGraphicFramePr/>
          <p:nvPr/>
        </p:nvGraphicFramePr>
        <p:xfrm>
          <a:off x="914400" y="18653760"/>
          <a:ext cx="6096762" cy="204459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2026-10-13T11:47:00Z</dcterms:created>
  <dcterms:modified xsi:type="dcterms:W3CDTF">2026-10-13T11:47:00Z</dcterms:modified>
</cp:coreProperties>
</file>