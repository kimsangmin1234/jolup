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29bd6298-fc71-4974-f3c5-cd22d99ffbe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LLM 방향 규칙</c:v>
                  </c:pt>
                  <c:pt idx="2">
                    <c:v>논문 구조 (P0)</c:v>
                  </c:pt>
                  <c:pt idx="3">
                    <c:v>추가 개선 실험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</c:v>
                </c:pt>
                <c:pt idx="2">
                  <c:v>0.06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8912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7742682" y="2926080"/>
            <a:ext cx="6828282" cy="438912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8108442" y="4069080"/>
            <a:ext cx="609676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① 주 신호  </a:t>
            </a:r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GPT-4o-mini 요약·감성 + 임베딩(1536차원) → 512차원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② 보조 신호  </a:t>
            </a:r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지표 9종 × 30일 → 인과적 TCN(미래 차단) → 30 × 512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뉴스(Q)가 30일 지표(K·V) 중 관련 시점을 가중 평균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④ 게이트 잔차 결합  </a:t>
            </a:r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h = p + σ(W[p; c]) ⊙ c → MLP로 등락률 예측</a:t>
            </a:r>
            <a:endParaRPr lang="en-US" sz="1900" dirty="0"/>
          </a:p>
        </p:txBody>
      </p:sp>
      <p:sp>
        <p:nvSpPr>
          <p:cNvPr id="15" name="card-14"/>
          <p:cNvSpPr/>
          <p:nvPr/>
        </p:nvSpPr>
        <p:spPr>
          <a:xfrm>
            <a:off x="548640" y="7589520"/>
            <a:ext cx="14022324" cy="4160520"/>
          </a:xfrm>
          <a:prstGeom prst="roundRect">
            <a:avLst>
              <a:gd name="adj" fmla="val 395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68680" y="78638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68680" y="78638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1645920" y="7863840"/>
            <a:ext cx="126507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 (논문 제안 모델)</a:t>
            </a:r>
            <a:endParaRPr lang="en-US" sz="3200" dirty="0"/>
          </a:p>
        </p:txBody>
      </p:sp>
      <p:sp>
        <p:nvSpPr>
          <p:cNvPr id="19" name="node-18"/>
          <p:cNvSpPr/>
          <p:nvPr/>
        </p:nvSpPr>
        <p:spPr>
          <a:xfrm>
            <a:off x="960120" y="877824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DCE8F6"/>
            </a:solidFill>
            <a:prstDash val="solid"/>
          </a:ln>
        </p:spPr>
      </p:sp>
      <p:sp>
        <p:nvSpPr>
          <p:cNvPr id="20" name="text-19"/>
          <p:cNvSpPr txBox="1"/>
          <p:nvPr/>
        </p:nvSpPr>
        <p:spPr>
          <a:xfrm>
            <a:off x="1033272" y="8778240"/>
            <a:ext cx="14538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뉴스 본문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(발행 시각)</a:t>
            </a:r>
            <a:endParaRPr lang="en-US" sz="1700" dirty="0"/>
          </a:p>
        </p:txBody>
      </p:sp>
      <p:sp>
        <p:nvSpPr>
          <p:cNvPr id="21" name="node-20"/>
          <p:cNvSpPr/>
          <p:nvPr/>
        </p:nvSpPr>
        <p:spPr>
          <a:xfrm>
            <a:off x="2862072" y="87782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DCE8F6"/>
            </a:solidFill>
            <a:prstDash val="solid"/>
          </a:ln>
        </p:spPr>
      </p:sp>
      <p:sp>
        <p:nvSpPr>
          <p:cNvPr id="22" name="text-21"/>
          <p:cNvSpPr txBox="1"/>
          <p:nvPr/>
        </p:nvSpPr>
        <p:spPr>
          <a:xfrm>
            <a:off x="2935224" y="877824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GPT-4o-mini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요약 · 감성 점수</a:t>
            </a:r>
            <a:endParaRPr lang="en-US" sz="1700" dirty="0"/>
          </a:p>
        </p:txBody>
      </p:sp>
      <p:sp>
        <p:nvSpPr>
          <p:cNvPr id="23" name="node-22"/>
          <p:cNvSpPr/>
          <p:nvPr/>
        </p:nvSpPr>
        <p:spPr>
          <a:xfrm>
            <a:off x="5129784" y="87782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5202936" y="877824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주 신호 512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임베딩 + 감성</a:t>
            </a:r>
            <a:endParaRPr lang="en-US" sz="1700" dirty="0"/>
          </a:p>
        </p:txBody>
      </p:sp>
      <p:sp>
        <p:nvSpPr>
          <p:cNvPr id="25" name="node-24"/>
          <p:cNvSpPr/>
          <p:nvPr/>
        </p:nvSpPr>
        <p:spPr>
          <a:xfrm>
            <a:off x="960120" y="1042416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26" name="text-25"/>
          <p:cNvSpPr txBox="1"/>
          <p:nvPr/>
        </p:nvSpPr>
        <p:spPr>
          <a:xfrm>
            <a:off x="1033272" y="10424160"/>
            <a:ext cx="14538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기술적 지표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9종 × 30일</a:t>
            </a:r>
            <a:endParaRPr lang="en-US" sz="1700" dirty="0"/>
          </a:p>
        </p:txBody>
      </p:sp>
      <p:sp>
        <p:nvSpPr>
          <p:cNvPr id="27" name="node-26"/>
          <p:cNvSpPr/>
          <p:nvPr/>
        </p:nvSpPr>
        <p:spPr>
          <a:xfrm>
            <a:off x="2862072" y="1042416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2935224" y="1042416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TCN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(인과적 합성곱)</a:t>
            </a:r>
            <a:endParaRPr lang="en-US" sz="1700" dirty="0"/>
          </a:p>
        </p:txBody>
      </p:sp>
      <p:sp>
        <p:nvSpPr>
          <p:cNvPr id="29" name="node-28"/>
          <p:cNvSpPr/>
          <p:nvPr/>
        </p:nvSpPr>
        <p:spPr>
          <a:xfrm>
            <a:off x="5129784" y="1042416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0" name="text-29"/>
          <p:cNvSpPr txBox="1"/>
          <p:nvPr/>
        </p:nvSpPr>
        <p:spPr>
          <a:xfrm>
            <a:off x="5202936" y="1042416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보조 신호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30 × 512</a:t>
            </a:r>
            <a:endParaRPr lang="en-US" sz="1700" dirty="0"/>
          </a:p>
        </p:txBody>
      </p:sp>
      <p:sp>
        <p:nvSpPr>
          <p:cNvPr id="31" name="node-30"/>
          <p:cNvSpPr/>
          <p:nvPr/>
        </p:nvSpPr>
        <p:spPr>
          <a:xfrm>
            <a:off x="7397496" y="950976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32" name="text-31"/>
          <p:cNvSpPr txBox="1"/>
          <p:nvPr/>
        </p:nvSpPr>
        <p:spPr>
          <a:xfrm>
            <a:off x="7470648" y="950976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비대칭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교차 어텐션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Q=뉴스 K·V=지표</a:t>
            </a:r>
            <a:endParaRPr lang="en-US" sz="1700" dirty="0"/>
          </a:p>
        </p:txBody>
      </p:sp>
      <p:sp>
        <p:nvSpPr>
          <p:cNvPr id="33" name="node-32"/>
          <p:cNvSpPr/>
          <p:nvPr/>
        </p:nvSpPr>
        <p:spPr>
          <a:xfrm>
            <a:off x="9619488" y="950976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34" name="text-33"/>
          <p:cNvSpPr txBox="1"/>
          <p:nvPr/>
        </p:nvSpPr>
        <p:spPr>
          <a:xfrm>
            <a:off x="9692640" y="950976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게이트 기반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잔차 결합</a:t>
            </a:r>
            <a:endParaRPr lang="en-US" sz="1700" dirty="0"/>
          </a:p>
        </p:txBody>
      </p:sp>
      <p:sp>
        <p:nvSpPr>
          <p:cNvPr id="35" name="node-34"/>
          <p:cNvSpPr/>
          <p:nvPr/>
        </p:nvSpPr>
        <p:spPr>
          <a:xfrm>
            <a:off x="11567160" y="9509760"/>
            <a:ext cx="137160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FBE8D0"/>
            </a:solidFill>
            <a:prstDash val="solid"/>
          </a:ln>
        </p:spPr>
      </p:sp>
      <p:sp>
        <p:nvSpPr>
          <p:cNvPr id="36" name="text-35"/>
          <p:cNvSpPr txBox="1"/>
          <p:nvPr/>
        </p:nvSpPr>
        <p:spPr>
          <a:xfrm>
            <a:off x="11640312" y="9509760"/>
            <a:ext cx="12252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MLP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512→256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→64→1</a:t>
            </a:r>
            <a:endParaRPr lang="en-US" sz="1700" dirty="0"/>
          </a:p>
        </p:txBody>
      </p:sp>
      <p:sp>
        <p:nvSpPr>
          <p:cNvPr id="37" name="node-36"/>
          <p:cNvSpPr/>
          <p:nvPr/>
        </p:nvSpPr>
        <p:spPr>
          <a:xfrm>
            <a:off x="13240512" y="9509760"/>
            <a:ext cx="1280160" cy="1143000"/>
          </a:xfrm>
          <a:prstGeom prst="roundRect">
            <a:avLst>
              <a:gd name="adj" fmla="val 8000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13313664" y="9509760"/>
            <a:ext cx="11338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1일 등락률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예측</a:t>
            </a:r>
            <a:endParaRPr lang="en-US" sz="1700" dirty="0"/>
          </a:p>
        </p:txBody>
      </p:sp>
      <p:sp>
        <p:nvSpPr>
          <p:cNvPr id="39" name="arrow-38"/>
          <p:cNvSpPr/>
          <p:nvPr/>
        </p:nvSpPr>
        <p:spPr>
          <a:xfrm>
            <a:off x="2560320" y="925830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4828032" y="925830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arrow-40"/>
          <p:cNvSpPr/>
          <p:nvPr/>
        </p:nvSpPr>
        <p:spPr>
          <a:xfrm>
            <a:off x="2560320" y="1090422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2" name="arrow-41"/>
          <p:cNvSpPr/>
          <p:nvPr/>
        </p:nvSpPr>
        <p:spPr>
          <a:xfrm>
            <a:off x="4828032" y="1090422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3" name="arrow-42"/>
          <p:cNvSpPr/>
          <p:nvPr/>
        </p:nvSpPr>
        <p:spPr>
          <a:xfrm>
            <a:off x="7095744" y="9258300"/>
            <a:ext cx="301752" cy="57150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4" name="arrow-43"/>
          <p:cNvSpPr/>
          <p:nvPr/>
        </p:nvSpPr>
        <p:spPr>
          <a:xfrm flipV="1">
            <a:off x="7095744" y="10332720"/>
            <a:ext cx="301752" cy="57150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5" name="arrow-44"/>
          <p:cNvSpPr/>
          <p:nvPr/>
        </p:nvSpPr>
        <p:spPr>
          <a:xfrm>
            <a:off x="9317736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arrow-45"/>
          <p:cNvSpPr/>
          <p:nvPr/>
        </p:nvSpPr>
        <p:spPr>
          <a:xfrm>
            <a:off x="11265408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7" name="arrow-46"/>
          <p:cNvSpPr/>
          <p:nvPr/>
        </p:nvSpPr>
        <p:spPr>
          <a:xfrm>
            <a:off x="12938760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8" name="arrow-47"/>
          <p:cNvSpPr/>
          <p:nvPr/>
        </p:nvSpPr>
        <p:spPr>
          <a:xfrm>
            <a:off x="7095744" y="8979408"/>
            <a:ext cx="3346704" cy="0"/>
          </a:xfrm>
          <a:prstGeom prst="line">
            <a:avLst/>
          </a:prstGeom>
          <a:noFill/>
          <a:ln w="22225">
            <a:solidFill>
              <a:srgbClr val="6B7686"/>
            </a:solidFill>
            <a:prstDash val="dash"/>
          </a:ln>
        </p:spPr>
      </p:sp>
      <p:sp>
        <p:nvSpPr>
          <p:cNvPr id="49" name="arrow-48"/>
          <p:cNvSpPr/>
          <p:nvPr/>
        </p:nvSpPr>
        <p:spPr>
          <a:xfrm>
            <a:off x="10442448" y="8979408"/>
            <a:ext cx="0" cy="530352"/>
          </a:xfrm>
          <a:prstGeom prst="line">
            <a:avLst/>
          </a:prstGeom>
          <a:noFill/>
          <a:ln w="22225">
            <a:solidFill>
              <a:srgbClr val="6B7686"/>
            </a:solidFill>
            <a:prstDash val="dash"/>
            <a:tailEnd type="triangle"/>
          </a:ln>
        </p:spPr>
      </p:sp>
      <p:sp>
        <p:nvSpPr>
          <p:cNvPr id="50" name="text-49"/>
          <p:cNvSpPr txBox="1"/>
          <p:nvPr/>
        </p:nvSpPr>
        <p:spPr>
          <a:xfrm>
            <a:off x="7488936" y="85953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잔차: 주 신호 보존</a:t>
            </a:r>
            <a:endParaRPr lang="en-US" sz="1500" dirty="0"/>
          </a:p>
        </p:txBody>
      </p:sp>
      <p:sp>
        <p:nvSpPr>
          <p:cNvPr id="51" name="text-50"/>
          <p:cNvSpPr txBox="1"/>
          <p:nvPr/>
        </p:nvSpPr>
        <p:spPr>
          <a:xfrm>
            <a:off x="7397496" y="10762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Q = 뉴스 1개, K·V = 30개 시점 (비대칭)</a:t>
            </a:r>
            <a:endParaRPr lang="en-US" sz="1500" dirty="0"/>
          </a:p>
        </p:txBody>
      </p:sp>
      <p:sp>
        <p:nvSpPr>
          <p:cNvPr id="52" name="card-51"/>
          <p:cNvSpPr/>
          <p:nvPr/>
        </p:nvSpPr>
        <p:spPr>
          <a:xfrm>
            <a:off x="548640" y="12024360"/>
            <a:ext cx="6828282" cy="5257800"/>
          </a:xfrm>
          <a:prstGeom prst="roundRect">
            <a:avLst>
              <a:gd name="adj" fmla="val 31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3" name="badge-52"/>
          <p:cNvSpPr/>
          <p:nvPr/>
        </p:nvSpPr>
        <p:spPr>
          <a:xfrm>
            <a:off x="868680" y="1229868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4" name="text-53"/>
          <p:cNvSpPr txBox="1"/>
          <p:nvPr/>
        </p:nvSpPr>
        <p:spPr>
          <a:xfrm>
            <a:off x="868680" y="12298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55" name="text-54"/>
          <p:cNvSpPr txBox="1"/>
          <p:nvPr/>
        </p:nvSpPr>
        <p:spPr>
          <a:xfrm>
            <a:off x="1645920" y="1229868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56" name="code-bg-55"/>
          <p:cNvSpPr/>
          <p:nvPr/>
        </p:nvSpPr>
        <p:spPr>
          <a:xfrm>
            <a:off x="914400" y="13167360"/>
            <a:ext cx="6096762" cy="2743200"/>
          </a:xfrm>
          <a:prstGeom prst="roundRect">
            <a:avLst>
              <a:gd name="adj" fmla="val 2667"/>
            </a:avLst>
          </a:prstGeom>
          <a:solidFill>
            <a:srgbClr val="1E2533"/>
          </a:solidFill>
          <a:ln w="12700">
            <a:solidFill>
              <a:srgbClr val="1E2533"/>
            </a:solidFill>
            <a:prstDash val="solid"/>
          </a:ln>
        </p:spPr>
      </p:sp>
      <p:sp>
        <p:nvSpPr>
          <p:cNvPr id="57" name="text-56"/>
          <p:cNvSpPr txBox="1"/>
          <p:nvPr/>
        </p:nvSpPr>
        <p:spPr>
          <a:xfrm>
            <a:off x="1115568" y="13304520"/>
            <a:ext cx="573100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AsymmetricCrossAttention(nn.Module):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forward(self, news, market):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self.query_proj(news)     # (B, 512)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self.key_proj(market)     # (B, 30, 512)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 = self.value_proj(market)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 = einsum('bd,btd-&gt;bt', q, k) * self.scale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 = softmax(s, dim=-1)        # 30-day weights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einsum('bt,btd-&gt;bd', w, v), w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GatedResidualFusion(nn.Module):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forward(self, p, c):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 = sigmoid(self.gate_net(cat([p, c], -1)))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+ g * c, g</a:t>
            </a:r>
            <a:endParaRPr lang="en-US" sz="1350" dirty="0"/>
          </a:p>
        </p:txBody>
      </p:sp>
      <p:sp>
        <p:nvSpPr>
          <p:cNvPr id="58" name="text-57"/>
          <p:cNvSpPr txBox="1"/>
          <p:nvPr/>
        </p:nvSpPr>
        <p:spPr>
          <a:xfrm>
            <a:off x="914400" y="16093440"/>
            <a:ext cx="60967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GitHub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github.com/kimsangmin1234/jolup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논문 모듈 1~5 (news_encoder, tcn_encoder, cross_attention, gated_fusion, return_predictor)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run_edt_suite2.py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EDT 표본 외 학습 · 평가</a:t>
            </a:r>
            <a:endParaRPr lang="en-US" sz="1500" dirty="0"/>
          </a:p>
        </p:txBody>
      </p:sp>
      <p:sp>
        <p:nvSpPr>
          <p:cNvPr id="59" name="card-58"/>
          <p:cNvSpPr/>
          <p:nvPr/>
        </p:nvSpPr>
        <p:spPr>
          <a:xfrm>
            <a:off x="548640" y="17556480"/>
            <a:ext cx="6828282" cy="3370478"/>
          </a:xfrm>
          <a:prstGeom prst="roundRect">
            <a:avLst>
              <a:gd name="adj" fmla="val 488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0" name="badge-59"/>
          <p:cNvSpPr/>
          <p:nvPr/>
        </p:nvSpPr>
        <p:spPr>
          <a:xfrm>
            <a:off x="868680" y="178308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1" name="text-60"/>
          <p:cNvSpPr txBox="1"/>
          <p:nvPr/>
        </p:nvSpPr>
        <p:spPr>
          <a:xfrm>
            <a:off x="868680" y="17830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62" name="text-61"/>
          <p:cNvSpPr txBox="1"/>
          <p:nvPr/>
        </p:nvSpPr>
        <p:spPr>
          <a:xfrm>
            <a:off x="1645920" y="178308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63" name="text-62"/>
          <p:cNvSpPr txBox="1"/>
          <p:nvPr/>
        </p:nvSpPr>
        <p:spPr>
          <a:xfrm>
            <a:off x="914400" y="18699480"/>
            <a:ext cx="6096762" cy="195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향후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입력 확장·앙상블로 0.092까지 개선 확인 → 비용을 고려한 전략 검증</a:t>
            </a:r>
            <a:endParaRPr lang="en-US" sz="1750" dirty="0"/>
          </a:p>
        </p:txBody>
      </p:sp>
      <p:sp>
        <p:nvSpPr>
          <p:cNvPr id="64" name="card-63"/>
          <p:cNvSpPr/>
          <p:nvPr/>
        </p:nvSpPr>
        <p:spPr>
          <a:xfrm>
            <a:off x="7742682" y="12024360"/>
            <a:ext cx="6828282" cy="890259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5" name="badge-64"/>
          <p:cNvSpPr/>
          <p:nvPr/>
        </p:nvSpPr>
        <p:spPr>
          <a:xfrm>
            <a:off x="8062722" y="1229868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6" name="text-65"/>
          <p:cNvSpPr txBox="1"/>
          <p:nvPr/>
        </p:nvSpPr>
        <p:spPr>
          <a:xfrm>
            <a:off x="8062722" y="12298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67" name="text-66"/>
          <p:cNvSpPr txBox="1"/>
          <p:nvPr/>
        </p:nvSpPr>
        <p:spPr>
          <a:xfrm>
            <a:off x="8839962" y="1229868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68" name="text-67"/>
          <p:cNvSpPr txBox="1"/>
          <p:nvPr/>
        </p:nvSpPr>
        <p:spPr>
          <a:xfrm>
            <a:off x="8108442" y="1316736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69" name="stat-68"/>
          <p:cNvSpPr/>
          <p:nvPr/>
        </p:nvSpPr>
        <p:spPr>
          <a:xfrm>
            <a:off x="8108442" y="1399032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0" name="text-69"/>
          <p:cNvSpPr txBox="1"/>
          <p:nvPr/>
        </p:nvSpPr>
        <p:spPr>
          <a:xfrm>
            <a:off x="8108442" y="1410004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71" name="text-70"/>
          <p:cNvSpPr txBox="1"/>
          <p:nvPr/>
        </p:nvSpPr>
        <p:spPr>
          <a:xfrm>
            <a:off x="8181594" y="1483156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0.046~0.073</a:t>
            </a:r>
            <a:endParaRPr lang="en-US" sz="1350" dirty="0"/>
          </a:p>
        </p:txBody>
      </p:sp>
      <p:sp>
        <p:nvSpPr>
          <p:cNvPr id="72" name="stat-71"/>
          <p:cNvSpPr/>
          <p:nvPr/>
        </p:nvSpPr>
        <p:spPr>
          <a:xfrm>
            <a:off x="10201656" y="1399032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text-72"/>
          <p:cNvSpPr txBox="1"/>
          <p:nvPr/>
        </p:nvSpPr>
        <p:spPr>
          <a:xfrm>
            <a:off x="10201656" y="1410004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74" name="text-73"/>
          <p:cNvSpPr txBox="1"/>
          <p:nvPr/>
        </p:nvSpPr>
        <p:spPr>
          <a:xfrm>
            <a:off x="10274808" y="1483156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구간 모두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양(+)의 예측력</a:t>
            </a:r>
            <a:endParaRPr lang="en-US" sz="1350" dirty="0"/>
          </a:p>
        </p:txBody>
      </p:sp>
      <p:sp>
        <p:nvSpPr>
          <p:cNvPr id="75" name="stat-74"/>
          <p:cNvSpPr/>
          <p:nvPr/>
        </p:nvSpPr>
        <p:spPr>
          <a:xfrm>
            <a:off x="12294870" y="1399032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6" name="text-75"/>
          <p:cNvSpPr txBox="1"/>
          <p:nvPr/>
        </p:nvSpPr>
        <p:spPr>
          <a:xfrm>
            <a:off x="12294870" y="1410004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77" name="text-76"/>
          <p:cNvSpPr txBox="1"/>
          <p:nvPr/>
        </p:nvSpPr>
        <p:spPr>
          <a:xfrm>
            <a:off x="12368022" y="1483156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사용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(예측력 없음)</a:t>
            </a:r>
            <a:endParaRPr lang="en-US" sz="1350" dirty="0"/>
          </a:p>
        </p:txBody>
      </p:sp>
      <p:graphicFrame>
        <p:nvGraphicFramePr>
          <p:cNvPr id="78" name="chart-ic" descr=""/>
          <p:cNvGraphicFramePr/>
          <p:nvPr/>
        </p:nvGraphicFramePr>
        <p:xfrm>
          <a:off x="8108442" y="15819120"/>
          <a:ext cx="609676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9" name="chart-window" descr=""/>
          <p:cNvGraphicFramePr/>
          <p:nvPr/>
        </p:nvGraphicFramePr>
        <p:xfrm>
          <a:off x="8108442" y="18562320"/>
          <a:ext cx="6096762" cy="213603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2026-10-13T10:57:10Z</dcterms:created>
  <dcterms:modified xsi:type="dcterms:W3CDTF">2026-10-13T10:57:10Z</dcterms:modified>
</cp:coreProperties>
</file>