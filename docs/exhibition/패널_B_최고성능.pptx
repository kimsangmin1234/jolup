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21384158"/>
  <p:notesSz cx="21384158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널" id="{0123f2aa-f969-75c8-c9d9-b50b8276cad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4233F"/>
                </a:solidFill>
                <a:latin typeface="+mn-lt"/>
              </a:defRPr>
            </a:pPr>
            <a:r>
              <a:rPr sz="1700" b="0" i="0" u="none" strike="noStrike">
                <a:solidFill>
                  <a:srgbClr val="14233F"/>
                </a:solidFill>
                <a:latin typeface="+mn-lt"/>
              </a:rPr>
              <a:t>모델별 순위 IC (3개 구간 합산)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순위 IC</c:v>
                </c:pt>
              </c:strCache>
            </c:strRef>
          </c:tx>
          <c:spPr>
            <a:solidFill>
              <a:srgbClr val="6B76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6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A12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감성 점수만</c:v>
                  </c:pt>
                  <c:pt idx="1">
                    <c:v>논문 구조 (P0)</c:v>
                  </c:pt>
                  <c:pt idx="2">
                    <c:v>개선 구조 (P1)</c:v>
                  </c:pt>
                  <c:pt idx="3">
                    <c:v>최종 앙상블 (E6)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-0.006</c:v>
                </c:pt>
                <c:pt idx="1">
                  <c:v>0.06</c:v>
                </c:pt>
                <c:pt idx="2">
                  <c:v>0.078</c:v>
                </c:pt>
                <c:pt idx="3">
                  <c:v>0.092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6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-0.04"/>
        </c:scaling>
        <c:delete val="0"/>
        <c:axPos val="b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4233F"/>
                </a:solidFill>
                <a:latin typeface="+mn-lt"/>
              </a:defRPr>
            </a:pPr>
            <a:r>
              <a:rPr sz="1700" b="0" i="0" u="none" strike="noStrike">
                <a:solidFill>
                  <a:srgbClr val="14233F"/>
                </a:solidFill>
                <a:latin typeface="+mn-lt"/>
              </a:rPr>
              <a:t>평가 구간별 순위 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논문 구조 (P0)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20.11~12</c:v>
                  </c:pt>
                  <c:pt idx="1">
                    <c:v>21.01~02</c:v>
                  </c:pt>
                  <c:pt idx="2">
                    <c:v>21.03~05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0.079</c:v>
                </c:pt>
                <c:pt idx="1">
                  <c:v>0.067</c:v>
                </c:pt>
                <c:pt idx="2">
                  <c:v>0.033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최종 앙상블 (E6)</c:v>
                </c:pt>
              </c:strCache>
            </c:strRef>
          </c:tx>
          <c:spPr>
            <a:solidFill>
              <a:srgbClr val="E3A12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20.11~12</c:v>
                  </c:pt>
                  <c:pt idx="1">
                    <c:v>21.01~02</c:v>
                  </c:pt>
                  <c:pt idx="2">
                    <c:v>21.03~05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0.079</c:v>
                </c:pt>
                <c:pt idx="1">
                  <c:v>0.083</c:v>
                </c:pt>
                <c:pt idx="2">
                  <c:v>0.11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6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6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 B: 실험 최고 성능(12개 모델 검증 비례 순위 앙상블 E6) 중심. 수치는 EDT 3개 평가 구간 32,926건, 날짜 블록 부트스트랩 95% 신뢰구간.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502920"/>
            <a:ext cx="140223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뉴스 이벤트 기반 주식 가격 예측 모델</a:t>
            </a:r>
            <a:endParaRPr lang="en-US" sz="64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1572768"/>
            <a:ext cx="14022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D3E3"/>
                </a:solidFill>
              </a:rPr>
              <a:t>Stock Price Prediction Model Based on News Events</a:t>
            </a:r>
            <a:endParaRPr lang="en-US" sz="26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2130552"/>
            <a:ext cx="14022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chemeClr val="bg1"/>
                </a:solidFill>
              </a:rPr>
              <a:t>충북대학교 정보통신공학부</a:t>
            </a:r>
            <a:pPr algn="ctr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     지도교수  </a:t>
            </a:r>
            <a:pPr algn="ctr" indent="0" marL="0">
              <a:buNone/>
            </a:pPr>
            <a:r>
              <a:rPr lang="en-US" sz="2500" dirty="0">
                <a:solidFill>
                  <a:schemeClr val="bg1"/>
                </a:solidFill>
              </a:rPr>
              <a:t>유재수 교수님</a:t>
            </a:r>
            <a:pPr algn="ctr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     참여학생  </a:t>
            </a:r>
            <a:pPr algn="ctr" indent="0" marL="0">
              <a:buNone/>
            </a:pPr>
            <a:r>
              <a:rPr lang="en-US" sz="2500" dirty="0">
                <a:solidFill>
                  <a:schemeClr val="bg1"/>
                </a:solidFill>
              </a:rPr>
              <a:t>김상민 · 성우제</a:t>
            </a:r>
            <a:endParaRPr lang="en-US" sz="2500" dirty="0"/>
          </a:p>
        </p:txBody>
      </p:sp>
      <p:sp>
        <p:nvSpPr>
          <p:cNvPr id="5" name="card-4"/>
          <p:cNvSpPr/>
          <p:nvPr/>
        </p:nvSpPr>
        <p:spPr>
          <a:xfrm>
            <a:off x="548640" y="2926080"/>
            <a:ext cx="6828282" cy="4343400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badge-5"/>
          <p:cNvSpPr/>
          <p:nvPr/>
        </p:nvSpPr>
        <p:spPr>
          <a:xfrm>
            <a:off x="868680" y="320040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868680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-7"/>
          <p:cNvSpPr txBox="1"/>
          <p:nvPr/>
        </p:nvSpPr>
        <p:spPr>
          <a:xfrm>
            <a:off x="1645920" y="320040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연구 내용</a:t>
            </a:r>
            <a:endParaRPr lang="en-US" sz="3200" dirty="0"/>
          </a:p>
        </p:txBody>
      </p:sp>
      <p:sp>
        <p:nvSpPr>
          <p:cNvPr id="9" name="text-8"/>
          <p:cNvSpPr txBox="1"/>
          <p:nvPr/>
        </p:nvSpPr>
        <p:spPr>
          <a:xfrm>
            <a:off x="914400" y="4069080"/>
            <a:ext cx="609676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필요성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단기 주가는 기술적 지표만으로 설명하기 어려운 뉴스 이벤트에 크게 반응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기존 연구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LLM 감성 점수 또는 텍스트 임베딩 중 하나만 사용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연구 내용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뉴스의 의미·감성(주 신호)과 과거 30일 시장 상태(보조 신호)를 결합해 뉴스 발표 후 1일 초과수익률 예측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검증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실제 기업 보도자료 6.3만 건, 미래 정보 누수 없는 표본 외 평가</a:t>
            </a:r>
            <a:endParaRPr lang="en-US" sz="1900" dirty="0"/>
          </a:p>
        </p:txBody>
      </p:sp>
      <p:sp>
        <p:nvSpPr>
          <p:cNvPr id="10" name="card-9"/>
          <p:cNvSpPr/>
          <p:nvPr/>
        </p:nvSpPr>
        <p:spPr>
          <a:xfrm>
            <a:off x="548640" y="7543800"/>
            <a:ext cx="6828282" cy="507492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badge-10"/>
          <p:cNvSpPr/>
          <p:nvPr/>
        </p:nvSpPr>
        <p:spPr>
          <a:xfrm>
            <a:off x="868680" y="781812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11"/>
          <p:cNvSpPr txBox="1"/>
          <p:nvPr/>
        </p:nvSpPr>
        <p:spPr>
          <a:xfrm>
            <a:off x="868680" y="78181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-12"/>
          <p:cNvSpPr txBox="1"/>
          <p:nvPr/>
        </p:nvSpPr>
        <p:spPr>
          <a:xfrm>
            <a:off x="1645920" y="781812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원리</a:t>
            </a:r>
            <a:endParaRPr lang="en-US" sz="3200" dirty="0"/>
          </a:p>
        </p:txBody>
      </p:sp>
      <p:sp>
        <p:nvSpPr>
          <p:cNvPr id="14" name="text-13"/>
          <p:cNvSpPr txBox="1"/>
          <p:nvPr/>
        </p:nvSpPr>
        <p:spPr>
          <a:xfrm>
            <a:off x="914400" y="8686800"/>
            <a:ext cx="609676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① LLM 기반 주 신호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GPT-4o-mini 요약·감성 점수 + 요약문 임베딩(1536차원) → 완전연결층 → 512차원</a:t>
            </a:r>
            <a:endParaRPr lang="en-US" sz="17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② TCN 기반 보조 벡터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기술적 지표 9종 × 30일 → 인과적 TCN → 시점별 512차원</a:t>
            </a:r>
            <a:endParaRPr lang="en-US" sz="17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③ 비대칭 교차 어텐션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주 신호(Q)로 30개 보조 벡터(K·V)를 softmax 가중 평균</a:t>
            </a:r>
            <a:endParaRPr lang="en-US" sz="17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④ 게이트 기반 잔차 결합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 = p + σ(W[p; c]) ⊙ c, 보조 정보 반영 정도를 학습</a:t>
            </a:r>
            <a:endParaRPr lang="en-US" sz="17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⑤ 등락률 예측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MLP 512 → 256 → 64 → 1</a:t>
            </a:r>
            <a:endParaRPr lang="en-US" sz="17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⑥ 확장·앙상블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이벤트 27종·순위 손실 추가, 12개 모델 검증 가중 앙상블</a:t>
            </a:r>
            <a:endParaRPr lang="en-US" sz="1700" dirty="0"/>
          </a:p>
        </p:txBody>
      </p:sp>
      <p:sp>
        <p:nvSpPr>
          <p:cNvPr id="15" name="card-14"/>
          <p:cNvSpPr/>
          <p:nvPr/>
        </p:nvSpPr>
        <p:spPr>
          <a:xfrm>
            <a:off x="7742682" y="2926080"/>
            <a:ext cx="6828282" cy="969264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badge-15"/>
          <p:cNvSpPr/>
          <p:nvPr/>
        </p:nvSpPr>
        <p:spPr>
          <a:xfrm>
            <a:off x="8062722" y="320040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-16"/>
          <p:cNvSpPr txBox="1"/>
          <p:nvPr/>
        </p:nvSpPr>
        <p:spPr>
          <a:xfrm>
            <a:off x="8062722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-17"/>
          <p:cNvSpPr txBox="1"/>
          <p:nvPr/>
        </p:nvSpPr>
        <p:spPr>
          <a:xfrm>
            <a:off x="8839962" y="320040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구조 (논문 모델 + 앙상블)</a:t>
            </a:r>
            <a:endParaRPr lang="en-US" sz="3200" dirty="0"/>
          </a:p>
        </p:txBody>
      </p:sp>
      <p:sp>
        <p:nvSpPr>
          <p:cNvPr id="19" name="group-18"/>
          <p:cNvSpPr/>
          <p:nvPr/>
        </p:nvSpPr>
        <p:spPr>
          <a:xfrm>
            <a:off x="8291345" y="4624251"/>
            <a:ext cx="3353219" cy="2442754"/>
          </a:xfrm>
          <a:prstGeom prst="roundRect">
            <a:avLst>
              <a:gd name="adj" fmla="val 2995"/>
            </a:avLst>
          </a:prstGeom>
          <a:solidFill>
            <a:srgbClr val="EAF1FA"/>
          </a:solidFill>
          <a:ln w="19050">
            <a:solidFill>
              <a:srgbClr val="14233F"/>
            </a:solidFill>
            <a:prstDash val="solid"/>
          </a:ln>
        </p:spPr>
      </p:sp>
      <p:sp>
        <p:nvSpPr>
          <p:cNvPr id="20" name="group-19"/>
          <p:cNvSpPr/>
          <p:nvPr/>
        </p:nvSpPr>
        <p:spPr>
          <a:xfrm>
            <a:off x="12010370" y="5512526"/>
            <a:ext cx="2011931" cy="1554480"/>
          </a:xfrm>
          <a:prstGeom prst="roundRect">
            <a:avLst>
              <a:gd name="adj" fmla="val 4706"/>
            </a:avLst>
          </a:prstGeom>
          <a:solidFill>
            <a:srgbClr val="E8F3E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1" name="text-20"/>
          <p:cNvSpPr txBox="1"/>
          <p:nvPr/>
        </p:nvSpPr>
        <p:spPr>
          <a:xfrm>
            <a:off x="8291345" y="4661263"/>
            <a:ext cx="3353219" cy="3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LLM 기반 주 신호 생성</a:t>
            </a:r>
            <a:endParaRPr lang="en-US" sz="1600" dirty="0"/>
          </a:p>
        </p:txBody>
      </p:sp>
      <p:sp>
        <p:nvSpPr>
          <p:cNvPr id="22" name="text-21"/>
          <p:cNvSpPr txBox="1"/>
          <p:nvPr/>
        </p:nvSpPr>
        <p:spPr>
          <a:xfrm>
            <a:off x="12010370" y="5549537"/>
            <a:ext cx="2011931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TCN 기반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보조 벡터 생성</a:t>
            </a:r>
            <a:endParaRPr lang="en-US" sz="1600" dirty="0"/>
          </a:p>
        </p:txBody>
      </p:sp>
      <p:sp>
        <p:nvSpPr>
          <p:cNvPr id="23" name="node-22"/>
          <p:cNvSpPr/>
          <p:nvPr/>
        </p:nvSpPr>
        <p:spPr>
          <a:xfrm>
            <a:off x="9083924" y="4069080"/>
            <a:ext cx="1950964" cy="407126"/>
          </a:xfrm>
          <a:prstGeom prst="roundRect">
            <a:avLst>
              <a:gd name="adj" fmla="val 22460"/>
            </a:avLst>
          </a:prstGeom>
          <a:solidFill>
            <a:srgbClr val="FFFFF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24" name="text-23"/>
          <p:cNvSpPr txBox="1"/>
          <p:nvPr/>
        </p:nvSpPr>
        <p:spPr>
          <a:xfrm>
            <a:off x="9157076" y="4069080"/>
            <a:ext cx="1804660" cy="407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이벤트 발생 (뉴스)</a:t>
            </a:r>
            <a:endParaRPr lang="en-US" sz="1550" dirty="0"/>
          </a:p>
        </p:txBody>
      </p:sp>
      <p:sp>
        <p:nvSpPr>
          <p:cNvPr id="25" name="arrow-24"/>
          <p:cNvSpPr/>
          <p:nvPr/>
        </p:nvSpPr>
        <p:spPr>
          <a:xfrm>
            <a:off x="10059406" y="4476206"/>
            <a:ext cx="0" cy="148046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26" name="node-25"/>
          <p:cNvSpPr/>
          <p:nvPr/>
        </p:nvSpPr>
        <p:spPr>
          <a:xfrm>
            <a:off x="9388762" y="5031377"/>
            <a:ext cx="1219352" cy="370114"/>
          </a:xfrm>
          <a:prstGeom prst="roundRect">
            <a:avLst>
              <a:gd name="adj" fmla="val 2470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7" name="text-26"/>
          <p:cNvSpPr txBox="1"/>
          <p:nvPr/>
        </p:nvSpPr>
        <p:spPr>
          <a:xfrm>
            <a:off x="9461914" y="5031377"/>
            <a:ext cx="1073048" cy="37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LLM</a:t>
            </a:r>
            <a:endParaRPr lang="en-US" sz="1550" dirty="0"/>
          </a:p>
        </p:txBody>
      </p:sp>
      <p:sp>
        <p:nvSpPr>
          <p:cNvPr id="28" name="arrow-27"/>
          <p:cNvSpPr/>
          <p:nvPr/>
        </p:nvSpPr>
        <p:spPr>
          <a:xfrm>
            <a:off x="9998438" y="5401491"/>
            <a:ext cx="0" cy="125839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29" name="arrow-28"/>
          <p:cNvSpPr/>
          <p:nvPr/>
        </p:nvSpPr>
        <p:spPr>
          <a:xfrm>
            <a:off x="9266827" y="5527330"/>
            <a:ext cx="1432739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30" name="arrow-29"/>
          <p:cNvSpPr/>
          <p:nvPr/>
        </p:nvSpPr>
        <p:spPr>
          <a:xfrm>
            <a:off x="9266827" y="5527330"/>
            <a:ext cx="0" cy="133241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1" name="arrow-30"/>
          <p:cNvSpPr/>
          <p:nvPr/>
        </p:nvSpPr>
        <p:spPr>
          <a:xfrm>
            <a:off x="10699566" y="5527330"/>
            <a:ext cx="0" cy="133241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2" name="node-31"/>
          <p:cNvSpPr/>
          <p:nvPr/>
        </p:nvSpPr>
        <p:spPr>
          <a:xfrm>
            <a:off x="8596183" y="5660571"/>
            <a:ext cx="1341288" cy="370114"/>
          </a:xfrm>
          <a:prstGeom prst="roundRect">
            <a:avLst>
              <a:gd name="adj" fmla="val 2470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3" name="text-32"/>
          <p:cNvSpPr txBox="1"/>
          <p:nvPr/>
        </p:nvSpPr>
        <p:spPr>
          <a:xfrm>
            <a:off x="8669335" y="5660571"/>
            <a:ext cx="1194984" cy="37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뉴스 요약</a:t>
            </a:r>
            <a:endParaRPr lang="en-US" sz="1550" dirty="0"/>
          </a:p>
        </p:txBody>
      </p:sp>
      <p:sp>
        <p:nvSpPr>
          <p:cNvPr id="34" name="node-33"/>
          <p:cNvSpPr/>
          <p:nvPr/>
        </p:nvSpPr>
        <p:spPr>
          <a:xfrm>
            <a:off x="10059406" y="5660571"/>
            <a:ext cx="1280320" cy="370114"/>
          </a:xfrm>
          <a:prstGeom prst="roundRect">
            <a:avLst>
              <a:gd name="adj" fmla="val 2470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5" name="text-34"/>
          <p:cNvSpPr txBox="1"/>
          <p:nvPr/>
        </p:nvSpPr>
        <p:spPr>
          <a:xfrm>
            <a:off x="10132558" y="5660571"/>
            <a:ext cx="1134016" cy="37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감성 점수</a:t>
            </a:r>
            <a:endParaRPr lang="en-US" sz="1550" dirty="0"/>
          </a:p>
        </p:txBody>
      </p:sp>
      <p:sp>
        <p:nvSpPr>
          <p:cNvPr id="36" name="arrow-35"/>
          <p:cNvSpPr/>
          <p:nvPr/>
        </p:nvSpPr>
        <p:spPr>
          <a:xfrm>
            <a:off x="9266827" y="6030686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7" name="node-36"/>
          <p:cNvSpPr/>
          <p:nvPr/>
        </p:nvSpPr>
        <p:spPr>
          <a:xfrm>
            <a:off x="8596183" y="6215743"/>
            <a:ext cx="1341288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8" name="text-37"/>
          <p:cNvSpPr txBox="1"/>
          <p:nvPr/>
        </p:nvSpPr>
        <p:spPr>
          <a:xfrm>
            <a:off x="8669335" y="6215743"/>
            <a:ext cx="1194984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임베딩 생성</a:t>
            </a:r>
            <a:endParaRPr lang="en-US" sz="1550" dirty="0"/>
          </a:p>
        </p:txBody>
      </p:sp>
      <p:sp>
        <p:nvSpPr>
          <p:cNvPr id="39" name="arrow-38"/>
          <p:cNvSpPr/>
          <p:nvPr/>
        </p:nvSpPr>
        <p:spPr>
          <a:xfrm>
            <a:off x="9266827" y="6511834"/>
            <a:ext cx="0" cy="148046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0" name="arrow-39"/>
          <p:cNvSpPr/>
          <p:nvPr/>
        </p:nvSpPr>
        <p:spPr>
          <a:xfrm>
            <a:off x="10699566" y="6030686"/>
            <a:ext cx="0" cy="629194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1" name="node-40"/>
          <p:cNvSpPr/>
          <p:nvPr/>
        </p:nvSpPr>
        <p:spPr>
          <a:xfrm>
            <a:off x="8474248" y="6659880"/>
            <a:ext cx="2987413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2" name="text-41"/>
          <p:cNvSpPr txBox="1"/>
          <p:nvPr/>
        </p:nvSpPr>
        <p:spPr>
          <a:xfrm>
            <a:off x="8547400" y="6659880"/>
            <a:ext cx="2841109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완전 연결층</a:t>
            </a:r>
            <a:endParaRPr lang="en-US" sz="1550" dirty="0"/>
          </a:p>
        </p:txBody>
      </p:sp>
      <p:sp>
        <p:nvSpPr>
          <p:cNvPr id="43" name="node-42"/>
          <p:cNvSpPr/>
          <p:nvPr/>
        </p:nvSpPr>
        <p:spPr>
          <a:xfrm>
            <a:off x="12254240" y="6104709"/>
            <a:ext cx="1524191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4" name="text-43"/>
          <p:cNvSpPr txBox="1"/>
          <p:nvPr/>
        </p:nvSpPr>
        <p:spPr>
          <a:xfrm>
            <a:off x="12327392" y="6104709"/>
            <a:ext cx="1377887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기술적 지표</a:t>
            </a:r>
            <a:endParaRPr lang="en-US" sz="1550" dirty="0"/>
          </a:p>
        </p:txBody>
      </p:sp>
      <p:sp>
        <p:nvSpPr>
          <p:cNvPr id="45" name="arrow-44"/>
          <p:cNvSpPr/>
          <p:nvPr/>
        </p:nvSpPr>
        <p:spPr>
          <a:xfrm>
            <a:off x="13016335" y="6400800"/>
            <a:ext cx="0" cy="222069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6" name="node-45"/>
          <p:cNvSpPr/>
          <p:nvPr/>
        </p:nvSpPr>
        <p:spPr>
          <a:xfrm>
            <a:off x="12254240" y="6622869"/>
            <a:ext cx="1524191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7" name="text-46"/>
          <p:cNvSpPr txBox="1"/>
          <p:nvPr/>
        </p:nvSpPr>
        <p:spPr>
          <a:xfrm>
            <a:off x="12327392" y="6622869"/>
            <a:ext cx="1377887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TCN</a:t>
            </a:r>
            <a:endParaRPr lang="en-US" sz="1550" dirty="0"/>
          </a:p>
        </p:txBody>
      </p:sp>
      <p:sp>
        <p:nvSpPr>
          <p:cNvPr id="48" name="arrow-47"/>
          <p:cNvSpPr/>
          <p:nvPr/>
        </p:nvSpPr>
        <p:spPr>
          <a:xfrm>
            <a:off x="9967954" y="7067006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9" name="arrow-48"/>
          <p:cNvSpPr/>
          <p:nvPr/>
        </p:nvSpPr>
        <p:spPr>
          <a:xfrm>
            <a:off x="13016335" y="7067006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50" name="node-49"/>
          <p:cNvSpPr/>
          <p:nvPr/>
        </p:nvSpPr>
        <p:spPr>
          <a:xfrm>
            <a:off x="8291345" y="7252063"/>
            <a:ext cx="3353219" cy="44413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51" name="text-50"/>
          <p:cNvSpPr txBox="1"/>
          <p:nvPr/>
        </p:nvSpPr>
        <p:spPr>
          <a:xfrm>
            <a:off x="8364497" y="7252063"/>
            <a:ext cx="3206915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주 신호: 512차원 벡터</a:t>
            </a:r>
            <a:endParaRPr lang="en-US" sz="1550" dirty="0"/>
          </a:p>
        </p:txBody>
      </p:sp>
      <p:sp>
        <p:nvSpPr>
          <p:cNvPr id="52" name="node-51"/>
          <p:cNvSpPr/>
          <p:nvPr/>
        </p:nvSpPr>
        <p:spPr>
          <a:xfrm>
            <a:off x="12010370" y="7252063"/>
            <a:ext cx="2011931" cy="44413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3" name="text-52"/>
          <p:cNvSpPr txBox="1"/>
          <p:nvPr/>
        </p:nvSpPr>
        <p:spPr>
          <a:xfrm>
            <a:off x="12083522" y="7252063"/>
            <a:ext cx="1865627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보조 신호: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(T, 512)차원 벡터</a:t>
            </a:r>
            <a:endParaRPr lang="en-US" sz="1450" dirty="0"/>
          </a:p>
        </p:txBody>
      </p:sp>
      <p:sp>
        <p:nvSpPr>
          <p:cNvPr id="54" name="arrow-53"/>
          <p:cNvSpPr/>
          <p:nvPr/>
        </p:nvSpPr>
        <p:spPr>
          <a:xfrm>
            <a:off x="9967954" y="7696200"/>
            <a:ext cx="0" cy="16285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5" name="arrow-54"/>
          <p:cNvSpPr/>
          <p:nvPr/>
        </p:nvSpPr>
        <p:spPr>
          <a:xfrm>
            <a:off x="13016335" y="7696200"/>
            <a:ext cx="0" cy="16285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6" name="arrow-55"/>
          <p:cNvSpPr/>
          <p:nvPr/>
        </p:nvSpPr>
        <p:spPr>
          <a:xfrm>
            <a:off x="9967954" y="7859050"/>
            <a:ext cx="3048381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7" name="arrow-56"/>
          <p:cNvSpPr/>
          <p:nvPr/>
        </p:nvSpPr>
        <p:spPr>
          <a:xfrm>
            <a:off x="11461661" y="7859050"/>
            <a:ext cx="0" cy="207264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58" name="node-57"/>
          <p:cNvSpPr/>
          <p:nvPr/>
        </p:nvSpPr>
        <p:spPr>
          <a:xfrm>
            <a:off x="9266827" y="8066314"/>
            <a:ext cx="4389669" cy="407126"/>
          </a:xfrm>
          <a:prstGeom prst="roundRect">
            <a:avLst>
              <a:gd name="adj" fmla="val 22460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59" name="text-58"/>
          <p:cNvSpPr txBox="1"/>
          <p:nvPr/>
        </p:nvSpPr>
        <p:spPr>
          <a:xfrm>
            <a:off x="9339979" y="8066314"/>
            <a:ext cx="4243365" cy="407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3. 비대칭 교차 어텐션</a:t>
            </a:r>
            <a:endParaRPr lang="en-US" sz="1700" dirty="0"/>
          </a:p>
        </p:txBody>
      </p:sp>
      <p:sp>
        <p:nvSpPr>
          <p:cNvPr id="60" name="arrow-59"/>
          <p:cNvSpPr/>
          <p:nvPr/>
        </p:nvSpPr>
        <p:spPr>
          <a:xfrm>
            <a:off x="11461661" y="8473440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1" name="node-60"/>
          <p:cNvSpPr/>
          <p:nvPr/>
        </p:nvSpPr>
        <p:spPr>
          <a:xfrm>
            <a:off x="9937471" y="8658497"/>
            <a:ext cx="3048381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62" name="text-61"/>
          <p:cNvSpPr txBox="1"/>
          <p:nvPr/>
        </p:nvSpPr>
        <p:spPr>
          <a:xfrm>
            <a:off x="10010623" y="8658497"/>
            <a:ext cx="2902077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보조 문맥 벡터: 512차원</a:t>
            </a:r>
            <a:endParaRPr lang="en-US" sz="1550" dirty="0"/>
          </a:p>
        </p:txBody>
      </p:sp>
      <p:sp>
        <p:nvSpPr>
          <p:cNvPr id="63" name="arrow-62"/>
          <p:cNvSpPr/>
          <p:nvPr/>
        </p:nvSpPr>
        <p:spPr>
          <a:xfrm>
            <a:off x="11461661" y="8954589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4" name="node-63"/>
          <p:cNvSpPr/>
          <p:nvPr/>
        </p:nvSpPr>
        <p:spPr>
          <a:xfrm>
            <a:off x="9266827" y="9139646"/>
            <a:ext cx="4389669" cy="407126"/>
          </a:xfrm>
          <a:prstGeom prst="roundRect">
            <a:avLst>
              <a:gd name="adj" fmla="val 22460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65" name="text-64"/>
          <p:cNvSpPr txBox="1"/>
          <p:nvPr/>
        </p:nvSpPr>
        <p:spPr>
          <a:xfrm>
            <a:off x="9339979" y="9139646"/>
            <a:ext cx="4243365" cy="407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4. 게이트 기반 잔차 결합</a:t>
            </a:r>
            <a:endParaRPr lang="en-US" sz="1700" dirty="0"/>
          </a:p>
        </p:txBody>
      </p:sp>
      <p:sp>
        <p:nvSpPr>
          <p:cNvPr id="66" name="arrow-65"/>
          <p:cNvSpPr/>
          <p:nvPr/>
        </p:nvSpPr>
        <p:spPr>
          <a:xfrm>
            <a:off x="7925539" y="7474131"/>
            <a:ext cx="365806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67" name="arrow-66"/>
          <p:cNvSpPr/>
          <p:nvPr/>
        </p:nvSpPr>
        <p:spPr>
          <a:xfrm>
            <a:off x="7925539" y="7474131"/>
            <a:ext cx="0" cy="186907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68" name="arrow-67"/>
          <p:cNvSpPr/>
          <p:nvPr/>
        </p:nvSpPr>
        <p:spPr>
          <a:xfrm>
            <a:off x="7925539" y="9343209"/>
            <a:ext cx="1341288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9" name="arrow-68"/>
          <p:cNvSpPr/>
          <p:nvPr/>
        </p:nvSpPr>
        <p:spPr>
          <a:xfrm>
            <a:off x="11461661" y="9546771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0" name="node-69"/>
          <p:cNvSpPr/>
          <p:nvPr/>
        </p:nvSpPr>
        <p:spPr>
          <a:xfrm>
            <a:off x="9937471" y="9731829"/>
            <a:ext cx="3048381" cy="296091"/>
          </a:xfrm>
          <a:prstGeom prst="roundRect">
            <a:avLst>
              <a:gd name="adj" fmla="val 30882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71" name="text-70"/>
          <p:cNvSpPr txBox="1"/>
          <p:nvPr/>
        </p:nvSpPr>
        <p:spPr>
          <a:xfrm>
            <a:off x="10010623" y="9731829"/>
            <a:ext cx="2902077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통합 표현 벡터: 512차원</a:t>
            </a:r>
            <a:endParaRPr lang="en-US" sz="1550" dirty="0"/>
          </a:p>
        </p:txBody>
      </p:sp>
      <p:sp>
        <p:nvSpPr>
          <p:cNvPr id="72" name="arrow-71"/>
          <p:cNvSpPr/>
          <p:nvPr/>
        </p:nvSpPr>
        <p:spPr>
          <a:xfrm>
            <a:off x="11461661" y="10027920"/>
            <a:ext cx="0" cy="185057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3" name="node-72"/>
          <p:cNvSpPr/>
          <p:nvPr/>
        </p:nvSpPr>
        <p:spPr>
          <a:xfrm>
            <a:off x="9266827" y="10212977"/>
            <a:ext cx="4389669" cy="407126"/>
          </a:xfrm>
          <a:prstGeom prst="roundRect">
            <a:avLst>
              <a:gd name="adj" fmla="val 22460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74" name="text-73"/>
          <p:cNvSpPr txBox="1"/>
          <p:nvPr/>
        </p:nvSpPr>
        <p:spPr>
          <a:xfrm>
            <a:off x="9339979" y="10212977"/>
            <a:ext cx="4243365" cy="407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5. 등락률 예측</a:t>
            </a:r>
            <a:endParaRPr lang="en-US" sz="1700" dirty="0"/>
          </a:p>
        </p:txBody>
      </p:sp>
      <p:sp>
        <p:nvSpPr>
          <p:cNvPr id="75" name="arrow-74"/>
          <p:cNvSpPr/>
          <p:nvPr/>
        </p:nvSpPr>
        <p:spPr>
          <a:xfrm>
            <a:off x="11461661" y="10620103"/>
            <a:ext cx="0" cy="148046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6" name="node-75"/>
          <p:cNvSpPr/>
          <p:nvPr/>
        </p:nvSpPr>
        <p:spPr>
          <a:xfrm>
            <a:off x="10181341" y="10768149"/>
            <a:ext cx="2560640" cy="296091"/>
          </a:xfrm>
          <a:prstGeom prst="roundRect">
            <a:avLst>
              <a:gd name="adj" fmla="val 30882"/>
            </a:avLst>
          </a:prstGeom>
          <a:solidFill>
            <a:srgbClr val="14233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77" name="text-76"/>
          <p:cNvSpPr txBox="1"/>
          <p:nvPr/>
        </p:nvSpPr>
        <p:spPr>
          <a:xfrm>
            <a:off x="10254493" y="10768149"/>
            <a:ext cx="2414336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chemeClr val="bg1"/>
                </a:solidFill>
              </a:rPr>
              <a:t>등락률 (개선 구조)</a:t>
            </a:r>
            <a:endParaRPr lang="en-US" sz="1550" dirty="0"/>
          </a:p>
        </p:txBody>
      </p:sp>
      <p:sp>
        <p:nvSpPr>
          <p:cNvPr id="78" name="text-77"/>
          <p:cNvSpPr txBox="1"/>
          <p:nvPr/>
        </p:nvSpPr>
        <p:spPr>
          <a:xfrm>
            <a:off x="8108442" y="11201400"/>
            <a:ext cx="60967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최종 예측: 위 신경망을 포함한 12개 모델의 앙상블</a:t>
            </a:r>
            <a:endParaRPr lang="en-US" sz="1500" dirty="0"/>
          </a:p>
        </p:txBody>
      </p:sp>
      <p:sp>
        <p:nvSpPr>
          <p:cNvPr id="79" name="node-78"/>
          <p:cNvSpPr/>
          <p:nvPr/>
        </p:nvSpPr>
        <p:spPr>
          <a:xfrm>
            <a:off x="8108442" y="11640312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80" name="text-79"/>
          <p:cNvSpPr txBox="1"/>
          <p:nvPr/>
        </p:nvSpPr>
        <p:spPr>
          <a:xfrm>
            <a:off x="8181594" y="1164031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신경망 8종</a:t>
            </a:r>
            <a:endParaRPr lang="en-US" sz="1450" dirty="0"/>
          </a:p>
        </p:txBody>
      </p:sp>
      <p:sp>
        <p:nvSpPr>
          <p:cNvPr id="81" name="text-80"/>
          <p:cNvSpPr txBox="1"/>
          <p:nvPr/>
        </p:nvSpPr>
        <p:spPr>
          <a:xfrm>
            <a:off x="9480042" y="11640312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</a:t>
            </a:r>
            <a:endParaRPr lang="en-US" sz="2200" dirty="0"/>
          </a:p>
        </p:txBody>
      </p:sp>
      <p:sp>
        <p:nvSpPr>
          <p:cNvPr id="82" name="node-81"/>
          <p:cNvSpPr/>
          <p:nvPr/>
        </p:nvSpPr>
        <p:spPr>
          <a:xfrm>
            <a:off x="9736074" y="11640312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83" name="text-82"/>
          <p:cNvSpPr txBox="1"/>
          <p:nvPr/>
        </p:nvSpPr>
        <p:spPr>
          <a:xfrm>
            <a:off x="9809226" y="1164031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LightGBM 4종</a:t>
            </a:r>
            <a:endParaRPr lang="en-US" sz="1450" dirty="0"/>
          </a:p>
        </p:txBody>
      </p:sp>
      <p:sp>
        <p:nvSpPr>
          <p:cNvPr id="84" name="text-83"/>
          <p:cNvSpPr txBox="1"/>
          <p:nvPr/>
        </p:nvSpPr>
        <p:spPr>
          <a:xfrm>
            <a:off x="11153394" y="11640312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</a:t>
            </a:r>
            <a:endParaRPr lang="en-US" sz="2200" dirty="0"/>
          </a:p>
        </p:txBody>
      </p:sp>
      <p:sp>
        <p:nvSpPr>
          <p:cNvPr id="85" name="node-84"/>
          <p:cNvSpPr/>
          <p:nvPr/>
        </p:nvSpPr>
        <p:spPr>
          <a:xfrm>
            <a:off x="11409426" y="11640312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86" name="text-85"/>
          <p:cNvSpPr txBox="1"/>
          <p:nvPr/>
        </p:nvSpPr>
        <p:spPr>
          <a:xfrm>
            <a:off x="11482578" y="11640312"/>
            <a:ext cx="722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Ridge</a:t>
            </a:r>
            <a:endParaRPr lang="en-US" sz="1450" dirty="0"/>
          </a:p>
        </p:txBody>
      </p:sp>
      <p:sp>
        <p:nvSpPr>
          <p:cNvPr id="87" name="arrow-86"/>
          <p:cNvSpPr/>
          <p:nvPr/>
        </p:nvSpPr>
        <p:spPr>
          <a:xfrm>
            <a:off x="12305538" y="11960352"/>
            <a:ext cx="201168" cy="0"/>
          </a:xfrm>
          <a:prstGeom prst="line">
            <a:avLst/>
          </a:prstGeom>
          <a:noFill/>
          <a:ln w="25400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88" name="node-87"/>
          <p:cNvSpPr/>
          <p:nvPr/>
        </p:nvSpPr>
        <p:spPr>
          <a:xfrm>
            <a:off x="12534138" y="1164031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4233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89" name="text-88"/>
          <p:cNvSpPr txBox="1"/>
          <p:nvPr/>
        </p:nvSpPr>
        <p:spPr>
          <a:xfrm>
            <a:off x="12607290" y="11640312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chemeClr val="bg1"/>
                </a:solidFill>
              </a:rPr>
              <a:t>가중 순위 앙상블</a:t>
            </a:r>
            <a:endParaRPr lang="en-US" sz="1450" dirty="0"/>
          </a:p>
        </p:txBody>
      </p:sp>
      <p:sp>
        <p:nvSpPr>
          <p:cNvPr id="90" name="card-89"/>
          <p:cNvSpPr/>
          <p:nvPr/>
        </p:nvSpPr>
        <p:spPr>
          <a:xfrm>
            <a:off x="7742682" y="12893040"/>
            <a:ext cx="6828282" cy="45262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1" name="badge-90"/>
          <p:cNvSpPr/>
          <p:nvPr/>
        </p:nvSpPr>
        <p:spPr>
          <a:xfrm>
            <a:off x="8062722" y="1316736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2" name="text-91"/>
          <p:cNvSpPr txBox="1"/>
          <p:nvPr/>
        </p:nvSpPr>
        <p:spPr>
          <a:xfrm>
            <a:off x="8062722" y="1316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93" name="text-92"/>
          <p:cNvSpPr txBox="1"/>
          <p:nvPr/>
        </p:nvSpPr>
        <p:spPr>
          <a:xfrm>
            <a:off x="8839962" y="1316736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Source Program</a:t>
            </a:r>
            <a:endParaRPr lang="en-US" sz="3200" dirty="0"/>
          </a:p>
        </p:txBody>
      </p:sp>
      <p:sp>
        <p:nvSpPr>
          <p:cNvPr id="94" name="code-bg-93"/>
          <p:cNvSpPr/>
          <p:nvPr/>
        </p:nvSpPr>
        <p:spPr>
          <a:xfrm>
            <a:off x="8108442" y="14036040"/>
            <a:ext cx="6096762" cy="2331720"/>
          </a:xfrm>
          <a:prstGeom prst="roundRect">
            <a:avLst>
              <a:gd name="adj" fmla="val 3137"/>
            </a:avLst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</p:sp>
      <p:sp>
        <p:nvSpPr>
          <p:cNvPr id="95" name="text-94"/>
          <p:cNvSpPr txBox="1"/>
          <p:nvPr/>
        </p:nvSpPr>
        <p:spPr>
          <a:xfrm>
            <a:off x="8309610" y="14145768"/>
            <a:ext cx="573100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module 3: asymmetric cross-attention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self.query_proj(news)           # (B, 512)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self.key_proj(market)           # (B, 30, 512)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self.value_proj(market)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softmax(einsum('bd,btd-&gt;bt', q, k) * scale)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einsum('bt,btd-&gt;bd', w, v)      # (B, 512)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module 4: gated residual fusion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sigmoid(self.gate_net(cat([news, c], -1)))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news + g * c                    # (B, 512)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final: validation-IC weighted rank ensemble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sum(w[m] * rank(p_test[m]) for m in M)</a:t>
            </a:r>
            <a:endParaRPr lang="en-US" sz="1300" dirty="0"/>
          </a:p>
        </p:txBody>
      </p:sp>
      <p:sp>
        <p:nvSpPr>
          <p:cNvPr id="96" name="text-95"/>
          <p:cNvSpPr txBox="1"/>
          <p:nvPr/>
        </p:nvSpPr>
        <p:spPr>
          <a:xfrm>
            <a:off x="8108442" y="16504920"/>
            <a:ext cx="60967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GitHub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github.com/kimsangmin1234/jolup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 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논문 모듈 1~5 (news_encoder, tcn_encoder, cross_attention, gated_fusion, return_predictor)</a:t>
            </a:r>
            <a:endParaRPr lang="en-US" sz="1500" dirty="0"/>
          </a:p>
        </p:txBody>
      </p:sp>
      <p:sp>
        <p:nvSpPr>
          <p:cNvPr id="97" name="card-96"/>
          <p:cNvSpPr/>
          <p:nvPr/>
        </p:nvSpPr>
        <p:spPr>
          <a:xfrm>
            <a:off x="7742682" y="17693640"/>
            <a:ext cx="6828282" cy="3233318"/>
          </a:xfrm>
          <a:prstGeom prst="roundRect">
            <a:avLst>
              <a:gd name="adj" fmla="val 50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8" name="badge-97"/>
          <p:cNvSpPr/>
          <p:nvPr/>
        </p:nvSpPr>
        <p:spPr>
          <a:xfrm>
            <a:off x="8062722" y="1796796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9" name="text-98"/>
          <p:cNvSpPr txBox="1"/>
          <p:nvPr/>
        </p:nvSpPr>
        <p:spPr>
          <a:xfrm>
            <a:off x="8062722" y="17967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</a:t>
            </a:r>
            <a:endParaRPr lang="en-US" sz="2600" dirty="0"/>
          </a:p>
        </p:txBody>
      </p:sp>
      <p:sp>
        <p:nvSpPr>
          <p:cNvPr id="100" name="text-99"/>
          <p:cNvSpPr txBox="1"/>
          <p:nvPr/>
        </p:nvSpPr>
        <p:spPr>
          <a:xfrm>
            <a:off x="8839962" y="1796796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결론</a:t>
            </a:r>
            <a:endParaRPr lang="en-US" sz="3200" dirty="0"/>
          </a:p>
        </p:txBody>
      </p:sp>
      <p:sp>
        <p:nvSpPr>
          <p:cNvPr id="101" name="text-100"/>
          <p:cNvSpPr txBox="1"/>
          <p:nvPr/>
        </p:nvSpPr>
        <p:spPr>
          <a:xfrm>
            <a:off x="8108442" y="18836640"/>
            <a:ext cx="6096762" cy="1815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성과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이벤트 정보·순위 손실·앙상블로 순위 IC 0.060 → 0.092 (차이 유의)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해석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자사주 매입은 상승, 임상 승인·신규 계약 같은 홍보성 호재는 하락을 학습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한계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거래비용 반영 시 수익 소멸, 일반 뉴스(FNSPID)에서는 비유의</a:t>
            </a:r>
            <a:endParaRPr lang="en-US" sz="1800" dirty="0"/>
          </a:p>
        </p:txBody>
      </p:sp>
      <p:sp>
        <p:nvSpPr>
          <p:cNvPr id="102" name="card-101"/>
          <p:cNvSpPr/>
          <p:nvPr/>
        </p:nvSpPr>
        <p:spPr>
          <a:xfrm>
            <a:off x="548640" y="12893040"/>
            <a:ext cx="6828282" cy="8033918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3" name="badge-102"/>
          <p:cNvSpPr/>
          <p:nvPr/>
        </p:nvSpPr>
        <p:spPr>
          <a:xfrm>
            <a:off x="868680" y="1316736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4" name="text-103"/>
          <p:cNvSpPr txBox="1"/>
          <p:nvPr/>
        </p:nvSpPr>
        <p:spPr>
          <a:xfrm>
            <a:off x="868680" y="1316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endParaRPr lang="en-US" sz="2600" dirty="0"/>
          </a:p>
        </p:txBody>
      </p:sp>
      <p:sp>
        <p:nvSpPr>
          <p:cNvPr id="105" name="text-104"/>
          <p:cNvSpPr txBox="1"/>
          <p:nvPr/>
        </p:nvSpPr>
        <p:spPr>
          <a:xfrm>
            <a:off x="1645920" y="1316736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성능평가 결과</a:t>
            </a:r>
            <a:endParaRPr lang="en-US" sz="3200" dirty="0"/>
          </a:p>
        </p:txBody>
      </p:sp>
      <p:sp>
        <p:nvSpPr>
          <p:cNvPr id="106" name="text-105"/>
          <p:cNvSpPr txBox="1"/>
          <p:nvPr/>
        </p:nvSpPr>
        <p:spPr>
          <a:xfrm>
            <a:off x="914400" y="14036040"/>
            <a:ext cx="60967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데이터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EDT 보도자료(2020.03~2021.05), 표본 외 32,926건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지표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순위 IC = 예측 순위와 실제 1일 초과수익률 순위의 상관</a:t>
            </a:r>
            <a:endParaRPr lang="en-US" sz="1500" dirty="0"/>
          </a:p>
        </p:txBody>
      </p:sp>
      <p:sp>
        <p:nvSpPr>
          <p:cNvPr id="107" name="stat-106"/>
          <p:cNvSpPr/>
          <p:nvPr/>
        </p:nvSpPr>
        <p:spPr>
          <a:xfrm>
            <a:off x="914400" y="14859000"/>
            <a:ext cx="1910334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8" name="text-107"/>
          <p:cNvSpPr txBox="1"/>
          <p:nvPr/>
        </p:nvSpPr>
        <p:spPr>
          <a:xfrm>
            <a:off x="914400" y="1496872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0.092</a:t>
            </a:r>
            <a:endParaRPr lang="en-US" sz="3400" dirty="0"/>
          </a:p>
        </p:txBody>
      </p:sp>
      <p:sp>
        <p:nvSpPr>
          <p:cNvPr id="109" name="text-108"/>
          <p:cNvSpPr txBox="1"/>
          <p:nvPr/>
        </p:nvSpPr>
        <p:spPr>
          <a:xfrm>
            <a:off x="987552" y="1556308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최종 앙상블 순위 IC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95% CI 0.077~0.107</a:t>
            </a:r>
            <a:endParaRPr lang="en-US" sz="1350" dirty="0"/>
          </a:p>
        </p:txBody>
      </p:sp>
      <p:sp>
        <p:nvSpPr>
          <p:cNvPr id="110" name="stat-109"/>
          <p:cNvSpPr/>
          <p:nvPr/>
        </p:nvSpPr>
        <p:spPr>
          <a:xfrm>
            <a:off x="3007614" y="14859000"/>
            <a:ext cx="1910334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1" name="text-110"/>
          <p:cNvSpPr txBox="1"/>
          <p:nvPr/>
        </p:nvSpPr>
        <p:spPr>
          <a:xfrm>
            <a:off x="3007614" y="1496872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+0.032</a:t>
            </a:r>
            <a:endParaRPr lang="en-US" sz="3400" dirty="0"/>
          </a:p>
        </p:txBody>
      </p:sp>
      <p:sp>
        <p:nvSpPr>
          <p:cNvPr id="112" name="text-111"/>
          <p:cNvSpPr txBox="1"/>
          <p:nvPr/>
        </p:nvSpPr>
        <p:spPr>
          <a:xfrm>
            <a:off x="3080766" y="1556308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논문 구조 대비 향상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95% CI 0.015~0.048</a:t>
            </a:r>
            <a:endParaRPr lang="en-US" sz="1350" dirty="0"/>
          </a:p>
        </p:txBody>
      </p:sp>
      <p:sp>
        <p:nvSpPr>
          <p:cNvPr id="113" name="stat-112"/>
          <p:cNvSpPr/>
          <p:nvPr/>
        </p:nvSpPr>
        <p:spPr>
          <a:xfrm>
            <a:off x="5100828" y="14859000"/>
            <a:ext cx="1910334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4" name="text-113"/>
          <p:cNvSpPr txBox="1"/>
          <p:nvPr/>
        </p:nvSpPr>
        <p:spPr>
          <a:xfrm>
            <a:off x="5100828" y="1496872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+0.37%</a:t>
            </a:r>
            <a:endParaRPr lang="en-US" sz="3400" dirty="0"/>
          </a:p>
        </p:txBody>
      </p:sp>
      <p:sp>
        <p:nvSpPr>
          <p:cNvPr id="115" name="text-114"/>
          <p:cNvSpPr txBox="1"/>
          <p:nvPr/>
        </p:nvSpPr>
        <p:spPr>
          <a:xfrm>
            <a:off x="5173980" y="1556308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예측 상위 10%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1일 평균 (비용 전)</a:t>
            </a:r>
            <a:endParaRPr lang="en-US" sz="1350" dirty="0"/>
          </a:p>
        </p:txBody>
      </p:sp>
      <p:graphicFrame>
        <p:nvGraphicFramePr>
          <p:cNvPr id="116" name="chart-ic" descr=""/>
          <p:cNvGraphicFramePr/>
          <p:nvPr/>
        </p:nvGraphicFramePr>
        <p:xfrm>
          <a:off x="914400" y="16550640"/>
          <a:ext cx="609676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7" name="chart-window" descr=""/>
          <p:cNvGraphicFramePr/>
          <p:nvPr/>
        </p:nvGraphicFramePr>
        <p:xfrm>
          <a:off x="914400" y="18790920"/>
          <a:ext cx="6096762" cy="190743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News Event Poster">
  <a:themeElements>
    <a:clrScheme name="News Event Poster">
      <a:dk1>
        <a:srgbClr val="1F2633"/>
      </a:dk1>
      <a:lt1>
        <a:srgbClr val="FFFFFF"/>
      </a:lt1>
      <a:dk2>
        <a:srgbClr val="14233F"/>
      </a:dk2>
      <a:lt2>
        <a:srgbClr val="EDF2F8"/>
      </a:lt2>
      <a:accent1>
        <a:srgbClr val="14233F"/>
      </a:accent1>
      <a:accent2>
        <a:srgbClr val="E3A12F"/>
      </a:accent2>
      <a:accent3>
        <a:srgbClr val="1F7A8C"/>
      </a:accent3>
      <a:accent4>
        <a:srgbClr val="C0392B"/>
      </a:accent4>
      <a:accent5>
        <a:srgbClr val="2E8B57"/>
      </a:accent5>
      <a:accent6>
        <a:srgbClr val="6B7686"/>
      </a:accent6>
      <a:hlink>
        <a:srgbClr val="1F7A8C"/>
      </a:hlink>
      <a:folHlink>
        <a:srgbClr val="6B7686"/>
      </a:folHlink>
    </a:clrScheme>
    <a:fontScheme name="News Event Poster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뉴스 이벤트 기반 주식 가격 예측 모델</dc:title>
  <dc:subject>PptxGenJS Presentation</dc:subject>
  <dc:creator>김상민, 성우제</dc:creator>
  <cp:lastModifiedBy>김상민, 성우제</cp:lastModifiedBy>
  <cp:revision>1</cp:revision>
  <dcterms:created xsi:type="dcterms:W3CDTF">2026-10-13T11:29:50Z</dcterms:created>
  <dcterms:modified xsi:type="dcterms:W3CDTF">2026-10-13T11:29:50Z</dcterms:modified>
</cp:coreProperties>
</file>