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4188c35d-991c-aea4-b13e-9e43660032d4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논문 구조 (P0)</c:v>
                  </c:pt>
                  <c:pt idx="2">
                    <c:v>개선 구조 (P1)</c:v>
                  </c:pt>
                  <c:pt idx="3">
                    <c:v>최종 앙상블 (E6)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0.06</c:v>
                </c:pt>
                <c:pt idx="2">
                  <c:v>0.078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1F7A8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최종 앙상블 (E6)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0.079</c:v>
                </c:pt>
                <c:pt idx="1">
                  <c:v>0.083</c:v>
                </c:pt>
                <c:pt idx="2">
                  <c:v>0.11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6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B: 실험 최고 성능(12개 모델 검증 비례 순위 앙상블 E6) 중심. 수치는 EDT 3개 평가 구간 32,926건, 날짜 블록 부트스트랩 95% 신뢰구간.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8912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실제 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7742682" y="2926080"/>
            <a:ext cx="6828282" cy="438912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8108442" y="4069080"/>
            <a:ext cx="609676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① 주 신호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GPT-4o-mini 요약·감성 + 임베딩(1536차원) → 512차원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② 보조 신호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지표 9종 × 30일 → 인과적 TCN(미래 차단) → 30 × 512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뉴스(Q)가 30일 지표(K·V) 중 관련 시점을 가중 평균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④ 게이트 잔차 결합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 = p + σ(W[p; c]) ⊙ c → MLP로 등락률 예측</a:t>
            </a:r>
            <a:endParaRPr lang="en-US" sz="18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800" b="1" dirty="0">
                <a:solidFill>
                  <a:schemeClr val="accent1"/>
                </a:solidFill>
              </a:rPr>
              <a:t>⑤ 확장·앙상블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이벤트 27종·발행 시점 입력, 순위 손실, 12개 모델 앙상블</a:t>
            </a:r>
            <a:endParaRPr lang="en-US" sz="1800" dirty="0"/>
          </a:p>
        </p:txBody>
      </p:sp>
      <p:sp>
        <p:nvSpPr>
          <p:cNvPr id="15" name="card-14"/>
          <p:cNvSpPr/>
          <p:nvPr/>
        </p:nvSpPr>
        <p:spPr>
          <a:xfrm>
            <a:off x="548640" y="7589520"/>
            <a:ext cx="14022324" cy="493776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68680" y="78638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68680" y="78638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1645920" y="7863840"/>
            <a:ext cx="1265072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 (논문 모델 + 확장 · 앙상블)</a:t>
            </a:r>
            <a:endParaRPr lang="en-US" sz="3200" dirty="0"/>
          </a:p>
        </p:txBody>
      </p:sp>
      <p:sp>
        <p:nvSpPr>
          <p:cNvPr id="19" name="node-18"/>
          <p:cNvSpPr/>
          <p:nvPr/>
        </p:nvSpPr>
        <p:spPr>
          <a:xfrm>
            <a:off x="960120" y="877824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DCE8F6"/>
          </a:solidFill>
          <a:ln w="15875">
            <a:solidFill>
              <a:srgbClr val="DCE8F6"/>
            </a:solidFill>
            <a:prstDash val="solid"/>
          </a:ln>
        </p:spPr>
      </p:sp>
      <p:sp>
        <p:nvSpPr>
          <p:cNvPr id="20" name="text-19"/>
          <p:cNvSpPr txBox="1"/>
          <p:nvPr/>
        </p:nvSpPr>
        <p:spPr>
          <a:xfrm>
            <a:off x="1033272" y="8778240"/>
            <a:ext cx="14538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뉴스 본문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(발행 시각)</a:t>
            </a:r>
            <a:endParaRPr lang="en-US" sz="1700" dirty="0"/>
          </a:p>
        </p:txBody>
      </p:sp>
      <p:sp>
        <p:nvSpPr>
          <p:cNvPr id="21" name="node-20"/>
          <p:cNvSpPr/>
          <p:nvPr/>
        </p:nvSpPr>
        <p:spPr>
          <a:xfrm>
            <a:off x="2862072" y="87782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DCE8F6"/>
          </a:solidFill>
          <a:ln w="15875">
            <a:solidFill>
              <a:srgbClr val="DCE8F6"/>
            </a:solidFill>
            <a:prstDash val="solid"/>
          </a:ln>
        </p:spPr>
      </p:sp>
      <p:sp>
        <p:nvSpPr>
          <p:cNvPr id="22" name="text-21"/>
          <p:cNvSpPr txBox="1"/>
          <p:nvPr/>
        </p:nvSpPr>
        <p:spPr>
          <a:xfrm>
            <a:off x="2935224" y="877824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GPT-4o-mini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요약·감성·이벤트</a:t>
            </a:r>
            <a:endParaRPr lang="en-US" sz="1700" dirty="0"/>
          </a:p>
        </p:txBody>
      </p:sp>
      <p:sp>
        <p:nvSpPr>
          <p:cNvPr id="23" name="node-22"/>
          <p:cNvSpPr/>
          <p:nvPr/>
        </p:nvSpPr>
        <p:spPr>
          <a:xfrm>
            <a:off x="5129784" y="877824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DCE8F6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5202936" y="877824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주 신호 512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임베딩·감성·이벤트</a:t>
            </a:r>
            <a:endParaRPr lang="en-US" sz="1700" dirty="0"/>
          </a:p>
        </p:txBody>
      </p:sp>
      <p:sp>
        <p:nvSpPr>
          <p:cNvPr id="25" name="node-24"/>
          <p:cNvSpPr/>
          <p:nvPr/>
        </p:nvSpPr>
        <p:spPr>
          <a:xfrm>
            <a:off x="960120" y="1042416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E1F0E3"/>
          </a:solidFill>
          <a:ln w="15875">
            <a:solidFill>
              <a:srgbClr val="E1F0E3"/>
            </a:solidFill>
            <a:prstDash val="solid"/>
          </a:ln>
        </p:spPr>
      </p:sp>
      <p:sp>
        <p:nvSpPr>
          <p:cNvPr id="26" name="text-25"/>
          <p:cNvSpPr txBox="1"/>
          <p:nvPr/>
        </p:nvSpPr>
        <p:spPr>
          <a:xfrm>
            <a:off x="1033272" y="10424160"/>
            <a:ext cx="14538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기술적 지표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9종 × 30일</a:t>
            </a:r>
            <a:endParaRPr lang="en-US" sz="1700" dirty="0"/>
          </a:p>
        </p:txBody>
      </p:sp>
      <p:sp>
        <p:nvSpPr>
          <p:cNvPr id="27" name="node-26"/>
          <p:cNvSpPr/>
          <p:nvPr/>
        </p:nvSpPr>
        <p:spPr>
          <a:xfrm>
            <a:off x="2862072" y="1042416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1F0E3"/>
          </a:solidFill>
          <a:ln w="15875">
            <a:solidFill>
              <a:srgbClr val="E1F0E3"/>
            </a:solidFill>
            <a:prstDash val="solid"/>
          </a:ln>
        </p:spPr>
      </p:sp>
      <p:sp>
        <p:nvSpPr>
          <p:cNvPr id="28" name="text-27"/>
          <p:cNvSpPr txBox="1"/>
          <p:nvPr/>
        </p:nvSpPr>
        <p:spPr>
          <a:xfrm>
            <a:off x="2935224" y="1042416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TCN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(인과적 합성곱)</a:t>
            </a:r>
            <a:endParaRPr lang="en-US" sz="1700" dirty="0"/>
          </a:p>
        </p:txBody>
      </p:sp>
      <p:sp>
        <p:nvSpPr>
          <p:cNvPr id="29" name="node-28"/>
          <p:cNvSpPr/>
          <p:nvPr/>
        </p:nvSpPr>
        <p:spPr>
          <a:xfrm>
            <a:off x="5129784" y="1042416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1F0E3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0" name="text-29"/>
          <p:cNvSpPr txBox="1"/>
          <p:nvPr/>
        </p:nvSpPr>
        <p:spPr>
          <a:xfrm>
            <a:off x="5202936" y="10424160"/>
            <a:ext cx="18196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보조 신호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30 × 512</a:t>
            </a:r>
            <a:endParaRPr lang="en-US" sz="1700" dirty="0"/>
          </a:p>
        </p:txBody>
      </p:sp>
      <p:sp>
        <p:nvSpPr>
          <p:cNvPr id="31" name="node-30"/>
          <p:cNvSpPr/>
          <p:nvPr/>
        </p:nvSpPr>
        <p:spPr>
          <a:xfrm>
            <a:off x="7397496" y="9509760"/>
            <a:ext cx="1920240" cy="1143000"/>
          </a:xfrm>
          <a:prstGeom prst="roundRect">
            <a:avLst>
              <a:gd name="adj" fmla="val 800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32" name="text-31"/>
          <p:cNvSpPr txBox="1"/>
          <p:nvPr/>
        </p:nvSpPr>
        <p:spPr>
          <a:xfrm>
            <a:off x="7470648" y="950976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비대칭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교차 어텐션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Q=뉴스 K·V=지표</a:t>
            </a:r>
            <a:endParaRPr lang="en-US" sz="1700" dirty="0"/>
          </a:p>
        </p:txBody>
      </p:sp>
      <p:sp>
        <p:nvSpPr>
          <p:cNvPr id="33" name="node-32"/>
          <p:cNvSpPr/>
          <p:nvPr/>
        </p:nvSpPr>
        <p:spPr>
          <a:xfrm>
            <a:off x="9619488" y="9509760"/>
            <a:ext cx="1645920" cy="1143000"/>
          </a:xfrm>
          <a:prstGeom prst="roundRect">
            <a:avLst>
              <a:gd name="adj" fmla="val 800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34" name="text-33"/>
          <p:cNvSpPr txBox="1"/>
          <p:nvPr/>
        </p:nvSpPr>
        <p:spPr>
          <a:xfrm>
            <a:off x="9692640" y="9509760"/>
            <a:ext cx="1499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게이트 기반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잔차 결합</a:t>
            </a:r>
            <a:endParaRPr lang="en-US" sz="1700" dirty="0"/>
          </a:p>
        </p:txBody>
      </p:sp>
      <p:sp>
        <p:nvSpPr>
          <p:cNvPr id="35" name="node-34"/>
          <p:cNvSpPr/>
          <p:nvPr/>
        </p:nvSpPr>
        <p:spPr>
          <a:xfrm>
            <a:off x="11567160" y="9509760"/>
            <a:ext cx="1371600" cy="1143000"/>
          </a:xfrm>
          <a:prstGeom prst="roundRect">
            <a:avLst>
              <a:gd name="adj" fmla="val 8000"/>
            </a:avLst>
          </a:prstGeom>
          <a:solidFill>
            <a:srgbClr val="FBE8D0"/>
          </a:solidFill>
          <a:ln w="15875">
            <a:solidFill>
              <a:srgbClr val="FBE8D0"/>
            </a:solidFill>
            <a:prstDash val="solid"/>
          </a:ln>
        </p:spPr>
      </p:sp>
      <p:sp>
        <p:nvSpPr>
          <p:cNvPr id="36" name="text-35"/>
          <p:cNvSpPr txBox="1"/>
          <p:nvPr/>
        </p:nvSpPr>
        <p:spPr>
          <a:xfrm>
            <a:off x="11640312" y="9509760"/>
            <a:ext cx="12252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MLP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순위 손실</a:t>
            </a:r>
            <a:endParaRPr lang="en-US" sz="1700" dirty="0"/>
          </a:p>
        </p:txBody>
      </p:sp>
      <p:sp>
        <p:nvSpPr>
          <p:cNvPr id="37" name="node-36"/>
          <p:cNvSpPr/>
          <p:nvPr/>
        </p:nvSpPr>
        <p:spPr>
          <a:xfrm>
            <a:off x="13240512" y="9509760"/>
            <a:ext cx="1280160" cy="1143000"/>
          </a:xfrm>
          <a:prstGeom prst="roundRect">
            <a:avLst>
              <a:gd name="adj" fmla="val 8000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13313664" y="9509760"/>
            <a:ext cx="113385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bg1"/>
                </a:solidFill>
              </a:rPr>
              <a:t>개선 구조</a:t>
            </a:r>
            <a:endParaRPr lang="en-US" sz="17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bg1"/>
                </a:solidFill>
              </a:rPr>
              <a:t>예측</a:t>
            </a:r>
            <a:endParaRPr lang="en-US" sz="1700" dirty="0"/>
          </a:p>
        </p:txBody>
      </p:sp>
      <p:sp>
        <p:nvSpPr>
          <p:cNvPr id="39" name="arrow-38"/>
          <p:cNvSpPr/>
          <p:nvPr/>
        </p:nvSpPr>
        <p:spPr>
          <a:xfrm>
            <a:off x="2560320" y="925830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4828032" y="925830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arrow-40"/>
          <p:cNvSpPr/>
          <p:nvPr/>
        </p:nvSpPr>
        <p:spPr>
          <a:xfrm>
            <a:off x="2560320" y="1090422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2" name="arrow-41"/>
          <p:cNvSpPr/>
          <p:nvPr/>
        </p:nvSpPr>
        <p:spPr>
          <a:xfrm>
            <a:off x="4828032" y="1090422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3" name="arrow-42"/>
          <p:cNvSpPr/>
          <p:nvPr/>
        </p:nvSpPr>
        <p:spPr>
          <a:xfrm>
            <a:off x="7095744" y="9258300"/>
            <a:ext cx="301752" cy="57150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4" name="arrow-43"/>
          <p:cNvSpPr/>
          <p:nvPr/>
        </p:nvSpPr>
        <p:spPr>
          <a:xfrm flipV="1">
            <a:off x="7095744" y="10332720"/>
            <a:ext cx="301752" cy="57150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5" name="arrow-44"/>
          <p:cNvSpPr/>
          <p:nvPr/>
        </p:nvSpPr>
        <p:spPr>
          <a:xfrm>
            <a:off x="9317736" y="1008126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arrow-45"/>
          <p:cNvSpPr/>
          <p:nvPr/>
        </p:nvSpPr>
        <p:spPr>
          <a:xfrm>
            <a:off x="11265408" y="1008126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7" name="arrow-46"/>
          <p:cNvSpPr/>
          <p:nvPr/>
        </p:nvSpPr>
        <p:spPr>
          <a:xfrm>
            <a:off x="12938760" y="10081260"/>
            <a:ext cx="301752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8" name="arrow-47"/>
          <p:cNvSpPr/>
          <p:nvPr/>
        </p:nvSpPr>
        <p:spPr>
          <a:xfrm>
            <a:off x="7095744" y="8979408"/>
            <a:ext cx="3346704" cy="0"/>
          </a:xfrm>
          <a:prstGeom prst="line">
            <a:avLst/>
          </a:prstGeom>
          <a:noFill/>
          <a:ln w="22225">
            <a:solidFill>
              <a:srgbClr val="6B7686"/>
            </a:solidFill>
            <a:prstDash val="dash"/>
          </a:ln>
        </p:spPr>
      </p:sp>
      <p:sp>
        <p:nvSpPr>
          <p:cNvPr id="49" name="arrow-48"/>
          <p:cNvSpPr/>
          <p:nvPr/>
        </p:nvSpPr>
        <p:spPr>
          <a:xfrm>
            <a:off x="10442448" y="8979408"/>
            <a:ext cx="0" cy="530352"/>
          </a:xfrm>
          <a:prstGeom prst="line">
            <a:avLst/>
          </a:prstGeom>
          <a:noFill/>
          <a:ln w="22225">
            <a:solidFill>
              <a:srgbClr val="6B7686"/>
            </a:solidFill>
            <a:prstDash val="dash"/>
            <a:tailEnd type="triangle"/>
          </a:ln>
        </p:spPr>
      </p:sp>
      <p:sp>
        <p:nvSpPr>
          <p:cNvPr id="50" name="text-49"/>
          <p:cNvSpPr txBox="1"/>
          <p:nvPr/>
        </p:nvSpPr>
        <p:spPr>
          <a:xfrm>
            <a:off x="7488936" y="85953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잔차: 주 신호 보존</a:t>
            </a:r>
            <a:endParaRPr lang="en-US" sz="1500" dirty="0"/>
          </a:p>
        </p:txBody>
      </p:sp>
      <p:sp>
        <p:nvSpPr>
          <p:cNvPr id="51" name="text-50"/>
          <p:cNvSpPr txBox="1"/>
          <p:nvPr/>
        </p:nvSpPr>
        <p:spPr>
          <a:xfrm>
            <a:off x="7397496" y="10762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686"/>
                </a:solidFill>
              </a:rPr>
              <a:t>Q = 뉴스 1개, K·V = 30개 시점 (비대칭)</a:t>
            </a:r>
            <a:endParaRPr lang="en-US" sz="1500" dirty="0"/>
          </a:p>
        </p:txBody>
      </p:sp>
      <p:sp>
        <p:nvSpPr>
          <p:cNvPr id="52" name="text-51"/>
          <p:cNvSpPr txBox="1"/>
          <p:nvPr/>
        </p:nvSpPr>
        <p:spPr>
          <a:xfrm>
            <a:off x="960120" y="1165860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최종 예측</a:t>
            </a:r>
            <a:endParaRPr lang="en-US" sz="1900" dirty="0"/>
          </a:p>
        </p:txBody>
      </p:sp>
      <p:sp>
        <p:nvSpPr>
          <p:cNvPr id="53" name="node-52"/>
          <p:cNvSpPr/>
          <p:nvPr/>
        </p:nvSpPr>
        <p:spPr>
          <a:xfrm>
            <a:off x="2606040" y="1165860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DCE8F6"/>
          </a:solidFill>
          <a:ln w="15875">
            <a:solidFill>
              <a:srgbClr val="DCE8F6"/>
            </a:solidFill>
            <a:prstDash val="solid"/>
          </a:ln>
        </p:spPr>
      </p:sp>
      <p:sp>
        <p:nvSpPr>
          <p:cNvPr id="54" name="text-53"/>
          <p:cNvSpPr txBox="1"/>
          <p:nvPr/>
        </p:nvSpPr>
        <p:spPr>
          <a:xfrm>
            <a:off x="2679192" y="11658600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신경망 8종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(논문 구조 포함)</a:t>
            </a:r>
            <a:endParaRPr lang="en-US" sz="1600" dirty="0"/>
          </a:p>
        </p:txBody>
      </p:sp>
      <p:sp>
        <p:nvSpPr>
          <p:cNvPr id="55" name="text-54"/>
          <p:cNvSpPr txBox="1"/>
          <p:nvPr/>
        </p:nvSpPr>
        <p:spPr>
          <a:xfrm>
            <a:off x="4983480" y="11658600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+</a:t>
            </a:r>
            <a:endParaRPr lang="en-US" sz="2600" dirty="0"/>
          </a:p>
        </p:txBody>
      </p:sp>
      <p:sp>
        <p:nvSpPr>
          <p:cNvPr id="56" name="node-55"/>
          <p:cNvSpPr/>
          <p:nvPr/>
        </p:nvSpPr>
        <p:spPr>
          <a:xfrm>
            <a:off x="5349240" y="11658600"/>
            <a:ext cx="2011680" cy="868680"/>
          </a:xfrm>
          <a:prstGeom prst="roundRect">
            <a:avLst>
              <a:gd name="adj" fmla="val 10526"/>
            </a:avLst>
          </a:prstGeom>
          <a:solidFill>
            <a:srgbClr val="E1F0E3"/>
          </a:solidFill>
          <a:ln w="15875">
            <a:solidFill>
              <a:srgbClr val="E1F0E3"/>
            </a:solidFill>
            <a:prstDash val="solid"/>
          </a:ln>
        </p:spPr>
      </p:sp>
      <p:sp>
        <p:nvSpPr>
          <p:cNvPr id="57" name="text-56"/>
          <p:cNvSpPr txBox="1"/>
          <p:nvPr/>
        </p:nvSpPr>
        <p:spPr>
          <a:xfrm>
            <a:off x="5422392" y="1165860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LightGBM 4종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(임베딩 PCA 등)</a:t>
            </a:r>
            <a:endParaRPr lang="en-US" sz="1600" dirty="0"/>
          </a:p>
        </p:txBody>
      </p:sp>
      <p:sp>
        <p:nvSpPr>
          <p:cNvPr id="58" name="text-57"/>
          <p:cNvSpPr txBox="1"/>
          <p:nvPr/>
        </p:nvSpPr>
        <p:spPr>
          <a:xfrm>
            <a:off x="7360920" y="11658600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+</a:t>
            </a:r>
            <a:endParaRPr lang="en-US" sz="2600" dirty="0"/>
          </a:p>
        </p:txBody>
      </p:sp>
      <p:sp>
        <p:nvSpPr>
          <p:cNvPr id="59" name="node-58"/>
          <p:cNvSpPr/>
          <p:nvPr/>
        </p:nvSpPr>
        <p:spPr>
          <a:xfrm>
            <a:off x="7726680" y="11658600"/>
            <a:ext cx="1463040" cy="868680"/>
          </a:xfrm>
          <a:prstGeom prst="roundRect">
            <a:avLst>
              <a:gd name="adj" fmla="val 10526"/>
            </a:avLst>
          </a:prstGeom>
          <a:solidFill>
            <a:srgbClr val="E1F0E3"/>
          </a:solidFill>
          <a:ln w="15875">
            <a:solidFill>
              <a:srgbClr val="E1F0E3"/>
            </a:solidFill>
            <a:prstDash val="solid"/>
          </a:ln>
        </p:spPr>
      </p:sp>
      <p:sp>
        <p:nvSpPr>
          <p:cNvPr id="60" name="text-59"/>
          <p:cNvSpPr txBox="1"/>
          <p:nvPr/>
        </p:nvSpPr>
        <p:spPr>
          <a:xfrm>
            <a:off x="7799832" y="1165860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Ridge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선형 기준선</a:t>
            </a:r>
            <a:endParaRPr lang="en-US" sz="1600" dirty="0"/>
          </a:p>
        </p:txBody>
      </p:sp>
      <p:sp>
        <p:nvSpPr>
          <p:cNvPr id="61" name="arrow-60"/>
          <p:cNvSpPr/>
          <p:nvPr/>
        </p:nvSpPr>
        <p:spPr>
          <a:xfrm>
            <a:off x="9235440" y="12092940"/>
            <a:ext cx="274320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2" name="node-61"/>
          <p:cNvSpPr/>
          <p:nvPr/>
        </p:nvSpPr>
        <p:spPr>
          <a:xfrm>
            <a:off x="9555480" y="1165860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3" name="text-62"/>
          <p:cNvSpPr txBox="1"/>
          <p:nvPr/>
        </p:nvSpPr>
        <p:spPr>
          <a:xfrm>
            <a:off x="9628632" y="1165860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검증 순위 IC 비례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가중 순위 평균</a:t>
            </a:r>
            <a:endParaRPr lang="en-US" sz="1600" dirty="0"/>
          </a:p>
        </p:txBody>
      </p:sp>
      <p:sp>
        <p:nvSpPr>
          <p:cNvPr id="64" name="arrow-63"/>
          <p:cNvSpPr/>
          <p:nvPr/>
        </p:nvSpPr>
        <p:spPr>
          <a:xfrm>
            <a:off x="11932920" y="12092940"/>
            <a:ext cx="274320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5" name="node-64"/>
          <p:cNvSpPr/>
          <p:nvPr/>
        </p:nvSpPr>
        <p:spPr>
          <a:xfrm>
            <a:off x="12252960" y="116586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66" name="text-65"/>
          <p:cNvSpPr txBox="1"/>
          <p:nvPr/>
        </p:nvSpPr>
        <p:spPr>
          <a:xfrm>
            <a:off x="12326112" y="1165860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최종 예측 E6</a:t>
            </a:r>
            <a:endParaRPr lang="en-US" sz="1600" dirty="0"/>
          </a:p>
        </p:txBody>
      </p:sp>
      <p:sp>
        <p:nvSpPr>
          <p:cNvPr id="67" name="card-66"/>
          <p:cNvSpPr/>
          <p:nvPr/>
        </p:nvSpPr>
        <p:spPr>
          <a:xfrm>
            <a:off x="548640" y="12801600"/>
            <a:ext cx="6828282" cy="45262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8" name="badge-67"/>
          <p:cNvSpPr/>
          <p:nvPr/>
        </p:nvSpPr>
        <p:spPr>
          <a:xfrm>
            <a:off x="868680" y="130759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text-68"/>
          <p:cNvSpPr txBox="1"/>
          <p:nvPr/>
        </p:nvSpPr>
        <p:spPr>
          <a:xfrm>
            <a:off x="868680" y="130759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70" name="text-69"/>
          <p:cNvSpPr txBox="1"/>
          <p:nvPr/>
        </p:nvSpPr>
        <p:spPr>
          <a:xfrm>
            <a:off x="1645920" y="130759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71" name="code-bg-70"/>
          <p:cNvSpPr/>
          <p:nvPr/>
        </p:nvSpPr>
        <p:spPr>
          <a:xfrm>
            <a:off x="914400" y="13944600"/>
            <a:ext cx="6096762" cy="2057400"/>
          </a:xfrm>
          <a:prstGeom prst="roundRect">
            <a:avLst>
              <a:gd name="adj" fmla="val 3556"/>
            </a:avLst>
          </a:prstGeom>
          <a:solidFill>
            <a:srgbClr val="1E2533"/>
          </a:solidFill>
          <a:ln w="12700">
            <a:solidFill>
              <a:srgbClr val="1E2533"/>
            </a:solidFill>
            <a:prstDash val="solid"/>
          </a:ln>
        </p:spPr>
      </p:sp>
      <p:sp>
        <p:nvSpPr>
          <p:cNvPr id="72" name="text-71"/>
          <p:cNvSpPr txBox="1"/>
          <p:nvPr/>
        </p:nvSpPr>
        <p:spPr>
          <a:xfrm>
            <a:off x="1115568" y="14081760"/>
            <a:ext cx="573100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module 3: asymmetric cross-attention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q, k, v = Wq(news), Wk(market), Wv(market)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softmax(einsum('bd,btd-&gt;bt', q, k) * scale)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= einsum('bt,btd-&gt;bd', w, v)   # (B, 512)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module 4: gated residual fusion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news + sigmoid(gate([news, c])) * c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8FA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final: validation-IC weighted rank ensemble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wt = [max(ric(p_val[m], y_val), 0) for m in M]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sum(w * rank(p_test[m]) for w, m in zip(wt, M))</a:t>
            </a:r>
            <a:endParaRPr lang="en-US" sz="1350" dirty="0"/>
          </a:p>
        </p:txBody>
      </p:sp>
      <p:sp>
        <p:nvSpPr>
          <p:cNvPr id="73" name="text-72"/>
          <p:cNvSpPr txBox="1"/>
          <p:nvPr/>
        </p:nvSpPr>
        <p:spPr>
          <a:xfrm>
            <a:off x="914400" y="16184880"/>
            <a:ext cx="609676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GitHub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3"/>
                </a:solidFill>
              </a:rPr>
              <a:t>github.com/kimsangmin1234/jolup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논문 모듈 1~5 (news_encoder, tcn_encoder, cross_attention, gated_fusion, return_predictor)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run_edt_suite3.py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개선 구조 학습 · 앙상블 · 평가</a:t>
            </a:r>
            <a:endParaRPr lang="en-US" sz="1500" dirty="0"/>
          </a:p>
        </p:txBody>
      </p:sp>
      <p:sp>
        <p:nvSpPr>
          <p:cNvPr id="74" name="card-73"/>
          <p:cNvSpPr/>
          <p:nvPr/>
        </p:nvSpPr>
        <p:spPr>
          <a:xfrm>
            <a:off x="548640" y="17602200"/>
            <a:ext cx="6828282" cy="3324758"/>
          </a:xfrm>
          <a:prstGeom prst="roundRect">
            <a:avLst>
              <a:gd name="adj" fmla="val 49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5" name="badge-74"/>
          <p:cNvSpPr/>
          <p:nvPr/>
        </p:nvSpPr>
        <p:spPr>
          <a:xfrm>
            <a:off x="868680" y="178765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-75"/>
          <p:cNvSpPr txBox="1"/>
          <p:nvPr/>
        </p:nvSpPr>
        <p:spPr>
          <a:xfrm>
            <a:off x="868680" y="17876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77" name="text-76"/>
          <p:cNvSpPr txBox="1"/>
          <p:nvPr/>
        </p:nvSpPr>
        <p:spPr>
          <a:xfrm>
            <a:off x="1645920" y="178765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78" name="text-77"/>
          <p:cNvSpPr txBox="1"/>
          <p:nvPr/>
        </p:nvSpPr>
        <p:spPr>
          <a:xfrm>
            <a:off x="914400" y="18745200"/>
            <a:ext cx="6096762" cy="1907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이벤트 정보·순위 손실·앙상블로 순위 IC 0.060 → 0.092 (차이 유의)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해석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자사주 매입은 상승, 임상 승인·신규 계약 같은 홍보성 호재는 하락을 학습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거래비용 반영 시 수익 소멸, 일반 뉴스(FNSPID)에서는 비유의</a:t>
            </a:r>
            <a:endParaRPr lang="en-US" sz="1750" dirty="0"/>
          </a:p>
        </p:txBody>
      </p:sp>
      <p:sp>
        <p:nvSpPr>
          <p:cNvPr id="79" name="card-78"/>
          <p:cNvSpPr/>
          <p:nvPr/>
        </p:nvSpPr>
        <p:spPr>
          <a:xfrm>
            <a:off x="7742682" y="12801600"/>
            <a:ext cx="6828282" cy="812535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0" name="badge-79"/>
          <p:cNvSpPr/>
          <p:nvPr/>
        </p:nvSpPr>
        <p:spPr>
          <a:xfrm>
            <a:off x="8062722" y="130759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1" name="text-80"/>
          <p:cNvSpPr txBox="1"/>
          <p:nvPr/>
        </p:nvSpPr>
        <p:spPr>
          <a:xfrm>
            <a:off x="8062722" y="130759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82" name="text-81"/>
          <p:cNvSpPr txBox="1"/>
          <p:nvPr/>
        </p:nvSpPr>
        <p:spPr>
          <a:xfrm>
            <a:off x="8839962" y="130759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83" name="text-82"/>
          <p:cNvSpPr txBox="1"/>
          <p:nvPr/>
        </p:nvSpPr>
        <p:spPr>
          <a:xfrm>
            <a:off x="8108442" y="1394460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84" name="stat-83"/>
          <p:cNvSpPr/>
          <p:nvPr/>
        </p:nvSpPr>
        <p:spPr>
          <a:xfrm>
            <a:off x="8108442" y="1476756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5" name="text-84"/>
          <p:cNvSpPr txBox="1"/>
          <p:nvPr/>
        </p:nvSpPr>
        <p:spPr>
          <a:xfrm>
            <a:off x="8108442" y="148772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0.092</a:t>
            </a:r>
            <a:endParaRPr lang="en-US" sz="3400" dirty="0"/>
          </a:p>
        </p:txBody>
      </p:sp>
      <p:sp>
        <p:nvSpPr>
          <p:cNvPr id="86" name="text-85"/>
          <p:cNvSpPr txBox="1"/>
          <p:nvPr/>
        </p:nvSpPr>
        <p:spPr>
          <a:xfrm>
            <a:off x="8181594" y="1547164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최종 앙상블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0.077~0.107</a:t>
            </a:r>
            <a:endParaRPr lang="en-US" sz="1350" dirty="0"/>
          </a:p>
        </p:txBody>
      </p:sp>
      <p:sp>
        <p:nvSpPr>
          <p:cNvPr id="87" name="stat-86"/>
          <p:cNvSpPr/>
          <p:nvPr/>
        </p:nvSpPr>
        <p:spPr>
          <a:xfrm>
            <a:off x="10201656" y="1476756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8" name="text-87"/>
          <p:cNvSpPr txBox="1"/>
          <p:nvPr/>
        </p:nvSpPr>
        <p:spPr>
          <a:xfrm>
            <a:off x="10201656" y="148772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+0.032</a:t>
            </a:r>
            <a:endParaRPr lang="en-US" sz="3400" dirty="0"/>
          </a:p>
        </p:txBody>
      </p:sp>
      <p:sp>
        <p:nvSpPr>
          <p:cNvPr id="89" name="text-88"/>
          <p:cNvSpPr txBox="1"/>
          <p:nvPr/>
        </p:nvSpPr>
        <p:spPr>
          <a:xfrm>
            <a:off x="10274808" y="1547164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대비 향상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0.015~0.048</a:t>
            </a:r>
            <a:endParaRPr lang="en-US" sz="1350" dirty="0"/>
          </a:p>
        </p:txBody>
      </p:sp>
      <p:sp>
        <p:nvSpPr>
          <p:cNvPr id="90" name="stat-89"/>
          <p:cNvSpPr/>
          <p:nvPr/>
        </p:nvSpPr>
        <p:spPr>
          <a:xfrm>
            <a:off x="12294870" y="1476756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1" name="text-90"/>
          <p:cNvSpPr txBox="1"/>
          <p:nvPr/>
        </p:nvSpPr>
        <p:spPr>
          <a:xfrm>
            <a:off x="12294870" y="148772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+0.37%</a:t>
            </a:r>
            <a:endParaRPr lang="en-US" sz="3400" dirty="0"/>
          </a:p>
        </p:txBody>
      </p:sp>
      <p:sp>
        <p:nvSpPr>
          <p:cNvPr id="92" name="text-91"/>
          <p:cNvSpPr txBox="1"/>
          <p:nvPr/>
        </p:nvSpPr>
        <p:spPr>
          <a:xfrm>
            <a:off x="12368022" y="1547164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예측 상위 10%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1일 평균 (비용 전)</a:t>
            </a:r>
            <a:endParaRPr lang="en-US" sz="1350" dirty="0"/>
          </a:p>
        </p:txBody>
      </p:sp>
      <p:graphicFrame>
        <p:nvGraphicFramePr>
          <p:cNvPr id="93" name="chart-ic" descr=""/>
          <p:cNvGraphicFramePr/>
          <p:nvPr/>
        </p:nvGraphicFramePr>
        <p:xfrm>
          <a:off x="8108442" y="16459200"/>
          <a:ext cx="6096762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4" name="chart-window" descr=""/>
          <p:cNvGraphicFramePr/>
          <p:nvPr/>
        </p:nvGraphicFramePr>
        <p:xfrm>
          <a:off x="8108442" y="18608040"/>
          <a:ext cx="6096762" cy="209031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2026-10-13T10:57:13Z</dcterms:created>
  <dcterms:modified xsi:type="dcterms:W3CDTF">2026-10-13T10:57:13Z</dcterms:modified>
</cp:coreProperties>
</file>