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19604" cy="21384158"/>
  <p:notesSz cx="21384158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6c02d763-1f0a-9a23-c9ca-e129d5c59e29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모델별 순위 IC (3개 구간 합산)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7A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7A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A1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감성 점수만</c:v>
                  </c:pt>
                  <c:pt idx="1">
                    <c:v>논문 구조 (P0)</c:v>
                  </c:pt>
                  <c:pt idx="2">
                    <c:v>개선 구조 (P1)</c:v>
                  </c:pt>
                  <c:pt idx="3">
                    <c:v>최종 앙상블 (E6)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-0.006</c:v>
                </c:pt>
                <c:pt idx="1">
                  <c:v>0.06</c:v>
                </c:pt>
                <c:pt idx="2">
                  <c:v>0.078</c:v>
                </c:pt>
                <c:pt idx="3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평가 구간별 순위 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1F7A8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0.067</c:v>
                </c:pt>
                <c:pt idx="2">
                  <c:v>0.033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최종 앙상블 (E6)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0.079</c:v>
                </c:pt>
                <c:pt idx="1">
                  <c:v>0.083</c:v>
                </c:pt>
                <c:pt idx="2">
                  <c:v>0.11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F26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B: 실험 최고 성능(12개 모델 검증 비례 순위 앙상블 E6) 중심. 수치는 EDT 3개 평가 구간 32,926건, 날짜 블록 부트스트랩 95% 신뢰구간.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뉴스 이벤트 기반 주식 가격 예측 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참여학생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김상민 · 성우제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4343400"/>
          </a:xfrm>
          <a:prstGeom prst="roundRect">
            <a:avLst>
              <a:gd name="adj" fmla="val 37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필요성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단기 주가는 기술적 지표만으로 설명하기 어려운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기존 연구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LLM 감성 점수 또는 텍스트 임베딩 중 하나만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연구 내용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뉴스의 의미·감성(주 신호)과 과거 30일 시장 상태(보조 신호)를 결합해 뉴스 발표 후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실제 기업 보도자료 6.3만 건, 미래 정보 누수 없는 표본 외 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548640" y="7543800"/>
            <a:ext cx="6828282" cy="50749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68680" y="78181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68680" y="78181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1645920" y="78181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914400" y="8686800"/>
            <a:ext cx="609676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① LLM 기반 주 신호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GPT-4o-mini 요약·감성 점수 + 요약문 임베딩(1536차원) → 완전연결층 → 512차원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② TCN 기반 보조 벡터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기술적 지표 9종 × 30일 → 인과적 TCN → 시점별 512차원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③ 비대칭 교차 어텐션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주 신호(Q)로 30개 보조 벡터(K·V)를 softmax 가중 평균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④ 게이트 기반 잔차 결합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 = p + σ(W[p; c]) ⊙ c, 보조 정보 반영 정도를 학습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⑤ 등락률 예측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MLP 512 → 256 → 64 → 1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⑥ 확장·앙상블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이벤트 27종·순위 손실 추가, 12개 모델 검증 가중 앙상블</a:t>
            </a:r>
            <a:endParaRPr lang="en-US" sz="1700" dirty="0"/>
          </a:p>
        </p:txBody>
      </p:sp>
      <p:sp>
        <p:nvSpPr>
          <p:cNvPr id="15" name="card-14"/>
          <p:cNvSpPr/>
          <p:nvPr/>
        </p:nvSpPr>
        <p:spPr>
          <a:xfrm>
            <a:off x="7742682" y="2926080"/>
            <a:ext cx="6828282" cy="9692640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 (논문 모델 + 앙상블)</a:t>
            </a:r>
            <a:endParaRPr lang="en-US" sz="3200" dirty="0"/>
          </a:p>
        </p:txBody>
      </p:sp>
      <p:sp>
        <p:nvSpPr>
          <p:cNvPr id="19" name="group-18"/>
          <p:cNvSpPr/>
          <p:nvPr/>
        </p:nvSpPr>
        <p:spPr>
          <a:xfrm>
            <a:off x="8291345" y="4624251"/>
            <a:ext cx="3353219" cy="2442754"/>
          </a:xfrm>
          <a:prstGeom prst="roundRect">
            <a:avLst>
              <a:gd name="adj" fmla="val 2995"/>
            </a:avLst>
          </a:prstGeom>
          <a:solidFill>
            <a:srgbClr val="EAF1FA"/>
          </a:solidFill>
          <a:ln w="19050">
            <a:solidFill>
              <a:srgbClr val="14233F"/>
            </a:solidFill>
            <a:prstDash val="solid"/>
          </a:ln>
        </p:spPr>
      </p:sp>
      <p:sp>
        <p:nvSpPr>
          <p:cNvPr id="20" name="group-19"/>
          <p:cNvSpPr/>
          <p:nvPr/>
        </p:nvSpPr>
        <p:spPr>
          <a:xfrm>
            <a:off x="12010370" y="5512526"/>
            <a:ext cx="2011931" cy="1554480"/>
          </a:xfrm>
          <a:prstGeom prst="roundRect">
            <a:avLst>
              <a:gd name="adj" fmla="val 4706"/>
            </a:avLst>
          </a:prstGeom>
          <a:solidFill>
            <a:srgbClr val="E8F3EA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8291345" y="4661263"/>
            <a:ext cx="3353219" cy="333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LLM 기반 주 신호 생성</a:t>
            </a:r>
            <a:endParaRPr lang="en-US" sz="1600" dirty="0"/>
          </a:p>
        </p:txBody>
      </p:sp>
      <p:sp>
        <p:nvSpPr>
          <p:cNvPr id="22" name="text-21"/>
          <p:cNvSpPr txBox="1"/>
          <p:nvPr/>
        </p:nvSpPr>
        <p:spPr>
          <a:xfrm>
            <a:off x="12010370" y="5549537"/>
            <a:ext cx="2011931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TCN 기반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보조 벡터 생성</a:t>
            </a:r>
            <a:endParaRPr lang="en-US" sz="1600" dirty="0"/>
          </a:p>
        </p:txBody>
      </p:sp>
      <p:sp>
        <p:nvSpPr>
          <p:cNvPr id="23" name="node-22"/>
          <p:cNvSpPr/>
          <p:nvPr/>
        </p:nvSpPr>
        <p:spPr>
          <a:xfrm>
            <a:off x="9083924" y="4069080"/>
            <a:ext cx="1950964" cy="407126"/>
          </a:xfrm>
          <a:prstGeom prst="roundRect">
            <a:avLst>
              <a:gd name="adj" fmla="val 22460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9157076" y="4069080"/>
            <a:ext cx="1804660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이벤트 발생 (뉴스)</a:t>
            </a:r>
            <a:endParaRPr lang="en-US" sz="1550" dirty="0"/>
          </a:p>
        </p:txBody>
      </p:sp>
      <p:sp>
        <p:nvSpPr>
          <p:cNvPr id="25" name="arrow-24"/>
          <p:cNvSpPr/>
          <p:nvPr/>
        </p:nvSpPr>
        <p:spPr>
          <a:xfrm>
            <a:off x="10059406" y="4476206"/>
            <a:ext cx="0" cy="14804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26" name="node-25"/>
          <p:cNvSpPr/>
          <p:nvPr/>
        </p:nvSpPr>
        <p:spPr>
          <a:xfrm>
            <a:off x="9388762" y="5031377"/>
            <a:ext cx="1219352" cy="370114"/>
          </a:xfrm>
          <a:prstGeom prst="roundRect">
            <a:avLst>
              <a:gd name="adj" fmla="val 2470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text-26"/>
          <p:cNvSpPr txBox="1"/>
          <p:nvPr/>
        </p:nvSpPr>
        <p:spPr>
          <a:xfrm>
            <a:off x="9461914" y="5031377"/>
            <a:ext cx="1073048" cy="37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LLM</a:t>
            </a:r>
            <a:endParaRPr lang="en-US" sz="1550" dirty="0"/>
          </a:p>
        </p:txBody>
      </p:sp>
      <p:sp>
        <p:nvSpPr>
          <p:cNvPr id="28" name="arrow-27"/>
          <p:cNvSpPr/>
          <p:nvPr/>
        </p:nvSpPr>
        <p:spPr>
          <a:xfrm>
            <a:off x="9998438" y="5401491"/>
            <a:ext cx="0" cy="12583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29" name="arrow-28"/>
          <p:cNvSpPr/>
          <p:nvPr/>
        </p:nvSpPr>
        <p:spPr>
          <a:xfrm>
            <a:off x="9266827" y="5527330"/>
            <a:ext cx="1432739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30" name="arrow-29"/>
          <p:cNvSpPr/>
          <p:nvPr/>
        </p:nvSpPr>
        <p:spPr>
          <a:xfrm>
            <a:off x="9266827" y="5527330"/>
            <a:ext cx="0" cy="13324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1" name="arrow-30"/>
          <p:cNvSpPr/>
          <p:nvPr/>
        </p:nvSpPr>
        <p:spPr>
          <a:xfrm>
            <a:off x="10699566" y="5527330"/>
            <a:ext cx="0" cy="13324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2" name="node-31"/>
          <p:cNvSpPr/>
          <p:nvPr/>
        </p:nvSpPr>
        <p:spPr>
          <a:xfrm>
            <a:off x="8596183" y="5660571"/>
            <a:ext cx="1341288" cy="370114"/>
          </a:xfrm>
          <a:prstGeom prst="roundRect">
            <a:avLst>
              <a:gd name="adj" fmla="val 2470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669335" y="5660571"/>
            <a:ext cx="1194984" cy="37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뉴스 요약</a:t>
            </a:r>
            <a:endParaRPr lang="en-US" sz="1550" dirty="0"/>
          </a:p>
        </p:txBody>
      </p:sp>
      <p:sp>
        <p:nvSpPr>
          <p:cNvPr id="34" name="node-33"/>
          <p:cNvSpPr/>
          <p:nvPr/>
        </p:nvSpPr>
        <p:spPr>
          <a:xfrm>
            <a:off x="10059406" y="5660571"/>
            <a:ext cx="1280320" cy="370114"/>
          </a:xfrm>
          <a:prstGeom prst="roundRect">
            <a:avLst>
              <a:gd name="adj" fmla="val 2470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text-34"/>
          <p:cNvSpPr txBox="1"/>
          <p:nvPr/>
        </p:nvSpPr>
        <p:spPr>
          <a:xfrm>
            <a:off x="10132558" y="5660571"/>
            <a:ext cx="1134016" cy="37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감성 점수</a:t>
            </a:r>
            <a:endParaRPr lang="en-US" sz="1550" dirty="0"/>
          </a:p>
        </p:txBody>
      </p:sp>
      <p:sp>
        <p:nvSpPr>
          <p:cNvPr id="36" name="arrow-35"/>
          <p:cNvSpPr/>
          <p:nvPr/>
        </p:nvSpPr>
        <p:spPr>
          <a:xfrm>
            <a:off x="9266827" y="6030686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7" name="node-36"/>
          <p:cNvSpPr/>
          <p:nvPr/>
        </p:nvSpPr>
        <p:spPr>
          <a:xfrm>
            <a:off x="8596183" y="6215743"/>
            <a:ext cx="1341288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8669335" y="6215743"/>
            <a:ext cx="1194984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임베딩 생성</a:t>
            </a:r>
            <a:endParaRPr lang="en-US" sz="1550" dirty="0"/>
          </a:p>
        </p:txBody>
      </p:sp>
      <p:sp>
        <p:nvSpPr>
          <p:cNvPr id="39" name="arrow-38"/>
          <p:cNvSpPr/>
          <p:nvPr/>
        </p:nvSpPr>
        <p:spPr>
          <a:xfrm>
            <a:off x="9266827" y="6511834"/>
            <a:ext cx="0" cy="14804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10699566" y="6030686"/>
            <a:ext cx="0" cy="629194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node-40"/>
          <p:cNvSpPr/>
          <p:nvPr/>
        </p:nvSpPr>
        <p:spPr>
          <a:xfrm>
            <a:off x="8474248" y="6659880"/>
            <a:ext cx="2987413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2" name="text-41"/>
          <p:cNvSpPr txBox="1"/>
          <p:nvPr/>
        </p:nvSpPr>
        <p:spPr>
          <a:xfrm>
            <a:off x="8547400" y="6659880"/>
            <a:ext cx="2841109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완전 연결층</a:t>
            </a:r>
            <a:endParaRPr lang="en-US" sz="1550" dirty="0"/>
          </a:p>
        </p:txBody>
      </p:sp>
      <p:sp>
        <p:nvSpPr>
          <p:cNvPr id="43" name="node-42"/>
          <p:cNvSpPr/>
          <p:nvPr/>
        </p:nvSpPr>
        <p:spPr>
          <a:xfrm>
            <a:off x="12254240" y="6104709"/>
            <a:ext cx="152419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text-43"/>
          <p:cNvSpPr txBox="1"/>
          <p:nvPr/>
        </p:nvSpPr>
        <p:spPr>
          <a:xfrm>
            <a:off x="12327392" y="6104709"/>
            <a:ext cx="137788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기술적 지표</a:t>
            </a:r>
            <a:endParaRPr lang="en-US" sz="1550" dirty="0"/>
          </a:p>
        </p:txBody>
      </p:sp>
      <p:sp>
        <p:nvSpPr>
          <p:cNvPr id="45" name="arrow-44"/>
          <p:cNvSpPr/>
          <p:nvPr/>
        </p:nvSpPr>
        <p:spPr>
          <a:xfrm>
            <a:off x="13016335" y="6400800"/>
            <a:ext cx="0" cy="22206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node-45"/>
          <p:cNvSpPr/>
          <p:nvPr/>
        </p:nvSpPr>
        <p:spPr>
          <a:xfrm>
            <a:off x="12254240" y="6622869"/>
            <a:ext cx="152419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12327392" y="6622869"/>
            <a:ext cx="137788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TCN</a:t>
            </a:r>
            <a:endParaRPr lang="en-US" sz="1550" dirty="0"/>
          </a:p>
        </p:txBody>
      </p:sp>
      <p:sp>
        <p:nvSpPr>
          <p:cNvPr id="48" name="arrow-47"/>
          <p:cNvSpPr/>
          <p:nvPr/>
        </p:nvSpPr>
        <p:spPr>
          <a:xfrm>
            <a:off x="9967954" y="7067006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9" name="arrow-48"/>
          <p:cNvSpPr/>
          <p:nvPr/>
        </p:nvSpPr>
        <p:spPr>
          <a:xfrm>
            <a:off x="13016335" y="7067006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0" name="node-49"/>
          <p:cNvSpPr/>
          <p:nvPr/>
        </p:nvSpPr>
        <p:spPr>
          <a:xfrm>
            <a:off x="8291345" y="7252063"/>
            <a:ext cx="3353219" cy="444137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51" name="text-50"/>
          <p:cNvSpPr txBox="1"/>
          <p:nvPr/>
        </p:nvSpPr>
        <p:spPr>
          <a:xfrm>
            <a:off x="8364497" y="7252063"/>
            <a:ext cx="3206915" cy="444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tx1"/>
                </a:solidFill>
              </a:rPr>
              <a:t>주 신호: 512차원 벡터</a:t>
            </a:r>
            <a:endParaRPr lang="en-US" sz="1550" dirty="0"/>
          </a:p>
        </p:txBody>
      </p:sp>
      <p:sp>
        <p:nvSpPr>
          <p:cNvPr id="52" name="node-51"/>
          <p:cNvSpPr/>
          <p:nvPr/>
        </p:nvSpPr>
        <p:spPr>
          <a:xfrm>
            <a:off x="12010370" y="7252063"/>
            <a:ext cx="2011931" cy="444137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12083522" y="7252063"/>
            <a:ext cx="1865627" cy="444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보조 신호:</a:t>
            </a:r>
            <a:endParaRPr lang="en-US" sz="14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(T, 512)차원 벡터</a:t>
            </a:r>
            <a:endParaRPr lang="en-US" sz="1450" dirty="0"/>
          </a:p>
        </p:txBody>
      </p:sp>
      <p:sp>
        <p:nvSpPr>
          <p:cNvPr id="54" name="arrow-53"/>
          <p:cNvSpPr/>
          <p:nvPr/>
        </p:nvSpPr>
        <p:spPr>
          <a:xfrm>
            <a:off x="9967954" y="7696200"/>
            <a:ext cx="0" cy="16285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5" name="arrow-54"/>
          <p:cNvSpPr/>
          <p:nvPr/>
        </p:nvSpPr>
        <p:spPr>
          <a:xfrm>
            <a:off x="13016335" y="7696200"/>
            <a:ext cx="0" cy="16285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6" name="arrow-55"/>
          <p:cNvSpPr/>
          <p:nvPr/>
        </p:nvSpPr>
        <p:spPr>
          <a:xfrm>
            <a:off x="9967954" y="7859050"/>
            <a:ext cx="3048381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7" name="arrow-56"/>
          <p:cNvSpPr/>
          <p:nvPr/>
        </p:nvSpPr>
        <p:spPr>
          <a:xfrm>
            <a:off x="11461661" y="7859050"/>
            <a:ext cx="0" cy="207264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8" name="node-57"/>
          <p:cNvSpPr/>
          <p:nvPr/>
        </p:nvSpPr>
        <p:spPr>
          <a:xfrm>
            <a:off x="9266827" y="8066314"/>
            <a:ext cx="4389669" cy="407126"/>
          </a:xfrm>
          <a:prstGeom prst="roundRect">
            <a:avLst>
              <a:gd name="adj" fmla="val 2246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9339979" y="8066314"/>
            <a:ext cx="4243365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3. 비대칭 교차 어텐션</a:t>
            </a:r>
            <a:endParaRPr lang="en-US" sz="1700" dirty="0"/>
          </a:p>
        </p:txBody>
      </p:sp>
      <p:sp>
        <p:nvSpPr>
          <p:cNvPr id="60" name="arrow-59"/>
          <p:cNvSpPr/>
          <p:nvPr/>
        </p:nvSpPr>
        <p:spPr>
          <a:xfrm>
            <a:off x="11461661" y="8473440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1" name="node-60"/>
          <p:cNvSpPr/>
          <p:nvPr/>
        </p:nvSpPr>
        <p:spPr>
          <a:xfrm>
            <a:off x="9937471" y="8658497"/>
            <a:ext cx="304838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2" name="text-61"/>
          <p:cNvSpPr txBox="1"/>
          <p:nvPr/>
        </p:nvSpPr>
        <p:spPr>
          <a:xfrm>
            <a:off x="10010623" y="8658497"/>
            <a:ext cx="290207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보조 문맥 벡터: 512차원</a:t>
            </a:r>
            <a:endParaRPr lang="en-US" sz="1550" dirty="0"/>
          </a:p>
        </p:txBody>
      </p:sp>
      <p:sp>
        <p:nvSpPr>
          <p:cNvPr id="63" name="arrow-62"/>
          <p:cNvSpPr/>
          <p:nvPr/>
        </p:nvSpPr>
        <p:spPr>
          <a:xfrm>
            <a:off x="11461661" y="8954589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4" name="node-63"/>
          <p:cNvSpPr/>
          <p:nvPr/>
        </p:nvSpPr>
        <p:spPr>
          <a:xfrm>
            <a:off x="9266827" y="9139646"/>
            <a:ext cx="4389669" cy="407126"/>
          </a:xfrm>
          <a:prstGeom prst="roundRect">
            <a:avLst>
              <a:gd name="adj" fmla="val 2246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9339979" y="9139646"/>
            <a:ext cx="4243365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4. 게이트 기반 잔차 결합</a:t>
            </a:r>
            <a:endParaRPr lang="en-US" sz="1700" dirty="0"/>
          </a:p>
        </p:txBody>
      </p:sp>
      <p:sp>
        <p:nvSpPr>
          <p:cNvPr id="66" name="arrow-65"/>
          <p:cNvSpPr/>
          <p:nvPr/>
        </p:nvSpPr>
        <p:spPr>
          <a:xfrm>
            <a:off x="7925539" y="7474131"/>
            <a:ext cx="365806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7" name="arrow-66"/>
          <p:cNvSpPr/>
          <p:nvPr/>
        </p:nvSpPr>
        <p:spPr>
          <a:xfrm>
            <a:off x="7925539" y="7474131"/>
            <a:ext cx="0" cy="186907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8" name="arrow-67"/>
          <p:cNvSpPr/>
          <p:nvPr/>
        </p:nvSpPr>
        <p:spPr>
          <a:xfrm>
            <a:off x="7925539" y="9343209"/>
            <a:ext cx="1341288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9" name="arrow-68"/>
          <p:cNvSpPr/>
          <p:nvPr/>
        </p:nvSpPr>
        <p:spPr>
          <a:xfrm>
            <a:off x="11461661" y="9546771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0" name="node-69"/>
          <p:cNvSpPr/>
          <p:nvPr/>
        </p:nvSpPr>
        <p:spPr>
          <a:xfrm>
            <a:off x="9937471" y="9731829"/>
            <a:ext cx="304838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10010623" y="9731829"/>
            <a:ext cx="290207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통합 표현 벡터: 512차원</a:t>
            </a:r>
            <a:endParaRPr lang="en-US" sz="1550" dirty="0"/>
          </a:p>
        </p:txBody>
      </p:sp>
      <p:sp>
        <p:nvSpPr>
          <p:cNvPr id="72" name="arrow-71"/>
          <p:cNvSpPr/>
          <p:nvPr/>
        </p:nvSpPr>
        <p:spPr>
          <a:xfrm>
            <a:off x="11461661" y="10027920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3" name="node-72"/>
          <p:cNvSpPr/>
          <p:nvPr/>
        </p:nvSpPr>
        <p:spPr>
          <a:xfrm>
            <a:off x="9266827" y="10212977"/>
            <a:ext cx="4389669" cy="407126"/>
          </a:xfrm>
          <a:prstGeom prst="roundRect">
            <a:avLst>
              <a:gd name="adj" fmla="val 2246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74" name="text-73"/>
          <p:cNvSpPr txBox="1"/>
          <p:nvPr/>
        </p:nvSpPr>
        <p:spPr>
          <a:xfrm>
            <a:off x="9339979" y="10212977"/>
            <a:ext cx="4243365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5. 등락률 예측</a:t>
            </a:r>
            <a:endParaRPr lang="en-US" sz="1700" dirty="0"/>
          </a:p>
        </p:txBody>
      </p:sp>
      <p:sp>
        <p:nvSpPr>
          <p:cNvPr id="75" name="arrow-74"/>
          <p:cNvSpPr/>
          <p:nvPr/>
        </p:nvSpPr>
        <p:spPr>
          <a:xfrm>
            <a:off x="11461661" y="10620103"/>
            <a:ext cx="0" cy="14804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6" name="node-75"/>
          <p:cNvSpPr/>
          <p:nvPr/>
        </p:nvSpPr>
        <p:spPr>
          <a:xfrm>
            <a:off x="10181341" y="10768149"/>
            <a:ext cx="2560640" cy="296091"/>
          </a:xfrm>
          <a:prstGeom prst="roundRect">
            <a:avLst>
              <a:gd name="adj" fmla="val 30882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10254493" y="10768149"/>
            <a:ext cx="2414336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bg1"/>
                </a:solidFill>
              </a:rPr>
              <a:t>등락률 (개선 구조)</a:t>
            </a:r>
            <a:endParaRPr lang="en-US" sz="1550" dirty="0"/>
          </a:p>
        </p:txBody>
      </p:sp>
      <p:sp>
        <p:nvSpPr>
          <p:cNvPr id="78" name="text-77"/>
          <p:cNvSpPr txBox="1"/>
          <p:nvPr/>
        </p:nvSpPr>
        <p:spPr>
          <a:xfrm>
            <a:off x="8108442" y="11201400"/>
            <a:ext cx="60967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최종 예측: 위 신경망을 포함한 12개 모델의 앙상블</a:t>
            </a:r>
            <a:endParaRPr lang="en-US" sz="1500" dirty="0"/>
          </a:p>
        </p:txBody>
      </p:sp>
      <p:sp>
        <p:nvSpPr>
          <p:cNvPr id="79" name="node-78"/>
          <p:cNvSpPr/>
          <p:nvPr/>
        </p:nvSpPr>
        <p:spPr>
          <a:xfrm>
            <a:off x="8108442" y="11640312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8181594" y="11640312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신경망 8종</a:t>
            </a:r>
            <a:endParaRPr lang="en-US" sz="1450" dirty="0"/>
          </a:p>
        </p:txBody>
      </p:sp>
      <p:sp>
        <p:nvSpPr>
          <p:cNvPr id="81" name="text-80"/>
          <p:cNvSpPr txBox="1"/>
          <p:nvPr/>
        </p:nvSpPr>
        <p:spPr>
          <a:xfrm>
            <a:off x="9480042" y="11640312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+</a:t>
            </a:r>
            <a:endParaRPr lang="en-US" sz="2200" dirty="0"/>
          </a:p>
        </p:txBody>
      </p:sp>
      <p:sp>
        <p:nvSpPr>
          <p:cNvPr id="82" name="node-81"/>
          <p:cNvSpPr/>
          <p:nvPr/>
        </p:nvSpPr>
        <p:spPr>
          <a:xfrm>
            <a:off x="9736074" y="11640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83" name="text-82"/>
          <p:cNvSpPr txBox="1"/>
          <p:nvPr/>
        </p:nvSpPr>
        <p:spPr>
          <a:xfrm>
            <a:off x="9809226" y="11640312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LightGBM 4종</a:t>
            </a:r>
            <a:endParaRPr lang="en-US" sz="1450" dirty="0"/>
          </a:p>
        </p:txBody>
      </p:sp>
      <p:sp>
        <p:nvSpPr>
          <p:cNvPr id="84" name="text-83"/>
          <p:cNvSpPr txBox="1"/>
          <p:nvPr/>
        </p:nvSpPr>
        <p:spPr>
          <a:xfrm>
            <a:off x="11153394" y="11640312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+</a:t>
            </a:r>
            <a:endParaRPr lang="en-US" sz="2200" dirty="0"/>
          </a:p>
        </p:txBody>
      </p:sp>
      <p:sp>
        <p:nvSpPr>
          <p:cNvPr id="85" name="node-84"/>
          <p:cNvSpPr/>
          <p:nvPr/>
        </p:nvSpPr>
        <p:spPr>
          <a:xfrm>
            <a:off x="11409426" y="11640312"/>
            <a:ext cx="8686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86" name="text-85"/>
          <p:cNvSpPr txBox="1"/>
          <p:nvPr/>
        </p:nvSpPr>
        <p:spPr>
          <a:xfrm>
            <a:off x="11482578" y="11640312"/>
            <a:ext cx="722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Ridge</a:t>
            </a:r>
            <a:endParaRPr lang="en-US" sz="1450" dirty="0"/>
          </a:p>
        </p:txBody>
      </p:sp>
      <p:sp>
        <p:nvSpPr>
          <p:cNvPr id="87" name="arrow-86"/>
          <p:cNvSpPr/>
          <p:nvPr/>
        </p:nvSpPr>
        <p:spPr>
          <a:xfrm>
            <a:off x="12305538" y="11960352"/>
            <a:ext cx="201168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88" name="node-87"/>
          <p:cNvSpPr/>
          <p:nvPr/>
        </p:nvSpPr>
        <p:spPr>
          <a:xfrm>
            <a:off x="12534138" y="11640312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89" name="text-88"/>
          <p:cNvSpPr txBox="1"/>
          <p:nvPr/>
        </p:nvSpPr>
        <p:spPr>
          <a:xfrm>
            <a:off x="12607290" y="11640312"/>
            <a:ext cx="1545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bg1"/>
                </a:solidFill>
              </a:rPr>
              <a:t>가중 순위 앙상블</a:t>
            </a:r>
            <a:endParaRPr lang="en-US" sz="1450" dirty="0"/>
          </a:p>
        </p:txBody>
      </p:sp>
      <p:sp>
        <p:nvSpPr>
          <p:cNvPr id="90" name="card-89"/>
          <p:cNvSpPr/>
          <p:nvPr/>
        </p:nvSpPr>
        <p:spPr>
          <a:xfrm>
            <a:off x="7742682" y="12893040"/>
            <a:ext cx="6828282" cy="4297680"/>
          </a:xfrm>
          <a:prstGeom prst="roundRect">
            <a:avLst>
              <a:gd name="adj" fmla="val 383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1" name="badge-90"/>
          <p:cNvSpPr/>
          <p:nvPr/>
        </p:nvSpPr>
        <p:spPr>
          <a:xfrm>
            <a:off x="8062722" y="1316736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2" name="text-91"/>
          <p:cNvSpPr txBox="1"/>
          <p:nvPr/>
        </p:nvSpPr>
        <p:spPr>
          <a:xfrm>
            <a:off x="8062722" y="131673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93" name="text-92"/>
          <p:cNvSpPr txBox="1"/>
          <p:nvPr/>
        </p:nvSpPr>
        <p:spPr>
          <a:xfrm>
            <a:off x="8839962" y="1316736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sp>
        <p:nvSpPr>
          <p:cNvPr id="94" name="text-93"/>
          <p:cNvSpPr txBox="1"/>
          <p:nvPr/>
        </p:nvSpPr>
        <p:spPr>
          <a:xfrm>
            <a:off x="8108442" y="14036040"/>
            <a:ext cx="6096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GitHub  </a:t>
            </a:r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github.com/kimsangmin1234/jolup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개발 환경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Python · PyTorch · LightGBM · OpenAI API</a:t>
            </a:r>
            <a:endParaRPr lang="en-US" sz="1700" dirty="0"/>
          </a:p>
        </p:txBody>
      </p:sp>
      <p:graphicFrame>
        <p:nvGraphicFramePr>
          <p:cNvPr id="2" name="sr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08442" y="15179040"/>
          <a:ext cx="6096762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312496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modules/news_encoder.py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① LLM 기반 주 신호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modules/tcn_encoder.py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② TCN 기반 보조 벡터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modules/cross_attention.py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③ 비대칭 교차 어텐션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modules/gated_fusion.py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④ 게이트 기반 잔차 결합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modules/return_predictor.py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⑤ 등락률 예측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run_edt_suite3.py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학습 · 앙상블 · 평가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6" name="card-94"/>
          <p:cNvSpPr/>
          <p:nvPr/>
        </p:nvSpPr>
        <p:spPr>
          <a:xfrm>
            <a:off x="7742682" y="17465040"/>
            <a:ext cx="6828282" cy="3461918"/>
          </a:xfrm>
          <a:prstGeom prst="roundRect">
            <a:avLst>
              <a:gd name="adj" fmla="val 47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7" name="badge-95"/>
          <p:cNvSpPr/>
          <p:nvPr/>
        </p:nvSpPr>
        <p:spPr>
          <a:xfrm>
            <a:off x="8062722" y="1773936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8" name="text-96"/>
          <p:cNvSpPr txBox="1"/>
          <p:nvPr/>
        </p:nvSpPr>
        <p:spPr>
          <a:xfrm>
            <a:off x="8062722" y="177393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99" name="text-97"/>
          <p:cNvSpPr txBox="1"/>
          <p:nvPr/>
        </p:nvSpPr>
        <p:spPr>
          <a:xfrm>
            <a:off x="8839962" y="1773936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100" name="text-98"/>
          <p:cNvSpPr txBox="1"/>
          <p:nvPr/>
        </p:nvSpPr>
        <p:spPr>
          <a:xfrm>
            <a:off x="8108442" y="18608040"/>
            <a:ext cx="6096762" cy="2044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성과 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이벤트 정보·순위 손실·앙상블로 순위 IC 0.060 → 0.092 (차이 유의)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해석 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자사주 매입은 상승, 임상 승인·신규 계약 같은 홍보성 호재는 하락을 학습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한계 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거래비용 반영 시 수익 소멸, 일반 뉴스(FNSPID)에서는 비유의</a:t>
            </a:r>
            <a:endParaRPr lang="en-US" sz="1800" dirty="0"/>
          </a:p>
        </p:txBody>
      </p:sp>
      <p:sp>
        <p:nvSpPr>
          <p:cNvPr id="101" name="card-99"/>
          <p:cNvSpPr/>
          <p:nvPr/>
        </p:nvSpPr>
        <p:spPr>
          <a:xfrm>
            <a:off x="548640" y="12893040"/>
            <a:ext cx="6828282" cy="803391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2" name="badge-100"/>
          <p:cNvSpPr/>
          <p:nvPr/>
        </p:nvSpPr>
        <p:spPr>
          <a:xfrm>
            <a:off x="868680" y="1316736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3" name="text-101"/>
          <p:cNvSpPr txBox="1"/>
          <p:nvPr/>
        </p:nvSpPr>
        <p:spPr>
          <a:xfrm>
            <a:off x="868680" y="131673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104" name="text-102"/>
          <p:cNvSpPr txBox="1"/>
          <p:nvPr/>
        </p:nvSpPr>
        <p:spPr>
          <a:xfrm>
            <a:off x="1645920" y="1316736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105" name="text-103"/>
          <p:cNvSpPr txBox="1"/>
          <p:nvPr/>
        </p:nvSpPr>
        <p:spPr>
          <a:xfrm>
            <a:off x="914400" y="1403604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데이터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EDT 보도자료(2020.03~2021.05), 표본 외 32,926건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지표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순위 IC = 예측 순위와 실제 1일 초과수익률 순위의 상관</a:t>
            </a:r>
            <a:endParaRPr lang="en-US" sz="1500" dirty="0"/>
          </a:p>
        </p:txBody>
      </p:sp>
      <p:sp>
        <p:nvSpPr>
          <p:cNvPr id="106" name="stat-104"/>
          <p:cNvSpPr/>
          <p:nvPr/>
        </p:nvSpPr>
        <p:spPr>
          <a:xfrm>
            <a:off x="914400" y="1485900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7" name="text-105"/>
          <p:cNvSpPr txBox="1"/>
          <p:nvPr/>
        </p:nvSpPr>
        <p:spPr>
          <a:xfrm>
            <a:off x="914400" y="1496872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0.092</a:t>
            </a:r>
            <a:endParaRPr lang="en-US" sz="3400" dirty="0"/>
          </a:p>
        </p:txBody>
      </p:sp>
      <p:sp>
        <p:nvSpPr>
          <p:cNvPr id="108" name="text-106"/>
          <p:cNvSpPr txBox="1"/>
          <p:nvPr/>
        </p:nvSpPr>
        <p:spPr>
          <a:xfrm>
            <a:off x="987552" y="1556308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최종 앙상블 순위 IC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0.077~0.107</a:t>
            </a:r>
            <a:endParaRPr lang="en-US" sz="1350" dirty="0"/>
          </a:p>
        </p:txBody>
      </p:sp>
      <p:sp>
        <p:nvSpPr>
          <p:cNvPr id="109" name="stat-107"/>
          <p:cNvSpPr/>
          <p:nvPr/>
        </p:nvSpPr>
        <p:spPr>
          <a:xfrm>
            <a:off x="3007614" y="1485900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0" name="text-108"/>
          <p:cNvSpPr txBox="1"/>
          <p:nvPr/>
        </p:nvSpPr>
        <p:spPr>
          <a:xfrm>
            <a:off x="3007614" y="1496872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+0.032</a:t>
            </a:r>
            <a:endParaRPr lang="en-US" sz="3400" dirty="0"/>
          </a:p>
        </p:txBody>
      </p:sp>
      <p:sp>
        <p:nvSpPr>
          <p:cNvPr id="111" name="text-109"/>
          <p:cNvSpPr txBox="1"/>
          <p:nvPr/>
        </p:nvSpPr>
        <p:spPr>
          <a:xfrm>
            <a:off x="3080766" y="1556308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 대비 향상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0.015~0.048</a:t>
            </a:r>
            <a:endParaRPr lang="en-US" sz="1350" dirty="0"/>
          </a:p>
        </p:txBody>
      </p:sp>
      <p:sp>
        <p:nvSpPr>
          <p:cNvPr id="112" name="stat-110"/>
          <p:cNvSpPr/>
          <p:nvPr/>
        </p:nvSpPr>
        <p:spPr>
          <a:xfrm>
            <a:off x="5100828" y="1485900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3" name="text-111"/>
          <p:cNvSpPr txBox="1"/>
          <p:nvPr/>
        </p:nvSpPr>
        <p:spPr>
          <a:xfrm>
            <a:off x="5100828" y="1496872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+0.37%</a:t>
            </a:r>
            <a:endParaRPr lang="en-US" sz="3400" dirty="0"/>
          </a:p>
        </p:txBody>
      </p:sp>
      <p:sp>
        <p:nvSpPr>
          <p:cNvPr id="114" name="text-112"/>
          <p:cNvSpPr txBox="1"/>
          <p:nvPr/>
        </p:nvSpPr>
        <p:spPr>
          <a:xfrm>
            <a:off x="5173980" y="1556308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예측 상위 10%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1일 평균 (비용 전)</a:t>
            </a:r>
            <a:endParaRPr lang="en-US" sz="1350" dirty="0"/>
          </a:p>
        </p:txBody>
      </p:sp>
      <p:graphicFrame>
        <p:nvGraphicFramePr>
          <p:cNvPr id="115" name="chart-ic" descr=""/>
          <p:cNvGraphicFramePr/>
          <p:nvPr/>
        </p:nvGraphicFramePr>
        <p:xfrm>
          <a:off x="914400" y="16550640"/>
          <a:ext cx="6096762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6" name="chart-window" descr=""/>
          <p:cNvGraphicFramePr/>
          <p:nvPr/>
        </p:nvGraphicFramePr>
        <p:xfrm>
          <a:off x="914400" y="18790920"/>
          <a:ext cx="6096762" cy="190743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김상민, 성우제</cp:lastModifiedBy>
  <cp:revision>1</cp:revision>
  <dcterms:created xsi:type="dcterms:W3CDTF">2026-10-13T11:47:01Z</dcterms:created>
  <dcterms:modified xsi:type="dcterms:W3CDTF">2026-10-13T11:47:01Z</dcterms:modified>
</cp:coreProperties>
</file>